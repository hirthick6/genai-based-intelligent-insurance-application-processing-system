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8288000" cy="10287000"/>
  <p:notesSz cx="6858000" cy="9144000"/>
  <p:embeddedFontLst>
    <p:embeddedFont>
      <p:font typeface="DM Sans" pitchFamily="2" charset="0"/>
      <p:regular r:id="rId16"/>
      <p:bold r:id="rId17"/>
      <p:italic r:id="rId18"/>
      <p:boldItalic r:id="rId19"/>
    </p:embeddedFont>
    <p:embeddedFont>
      <p:font typeface="DM Sans Bold" pitchFamily="2" charset="0"/>
      <p:regular r:id="rId20"/>
      <p:bold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36" d="100"/>
          <a:sy n="36" d="100"/>
        </p:scale>
        <p:origin x="614" y="8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irthick Sivashanmugam" userId="S::hirthick.sivashanmugam@d3minds.com::2d9d90ec-0422-4345-a684-8bf236ed9f14" providerId="AD" clId="Web-{56AADF68-4B3D-A123-38ED-458FA753FABB}"/>
    <pc:docChg chg="mod modMainMaster">
      <pc:chgData name="Hirthick Sivashanmugam" userId="S::hirthick.sivashanmugam@d3minds.com::2d9d90ec-0422-4345-a684-8bf236ed9f14" providerId="AD" clId="Web-{56AADF68-4B3D-A123-38ED-458FA753FABB}" dt="2026-01-13T04:17:30.558" v="1" actId="33475"/>
      <pc:docMkLst>
        <pc:docMk/>
      </pc:docMkLst>
      <pc:sldMasterChg chg="addSp">
        <pc:chgData name="Hirthick Sivashanmugam" userId="S::hirthick.sivashanmugam@d3minds.com::2d9d90ec-0422-4345-a684-8bf236ed9f14" providerId="AD" clId="Web-{56AADF68-4B3D-A123-38ED-458FA753FABB}" dt="2026-01-13T04:17:30.558" v="0" actId="33475"/>
        <pc:sldMasterMkLst>
          <pc:docMk/>
          <pc:sldMasterMk cId="0" sldId="2147483648"/>
        </pc:sldMasterMkLst>
        <pc:spChg chg="add">
          <ac:chgData name="Hirthick Sivashanmugam" userId="S::hirthick.sivashanmugam@d3minds.com::2d9d90ec-0422-4345-a684-8bf236ed9f14" providerId="AD" clId="Web-{56AADF68-4B3D-A123-38ED-458FA753FABB}" dt="2026-01-13T04:17:30.558" v="0" actId="33475"/>
          <ac:spMkLst>
            <pc:docMk/>
            <pc:sldMasterMk cId="0" sldId="2147483648"/>
            <ac:spMk id="9" creationId="{1A022A82-C18F-9246-27B8-EA8D78E9550F}"/>
          </ac:spMkLst>
        </pc:spChg>
        <pc:spChg chg="add">
          <ac:chgData name="Hirthick Sivashanmugam" userId="S::hirthick.sivashanmugam@d3minds.com::2d9d90ec-0422-4345-a684-8bf236ed9f14" providerId="AD" clId="Web-{56AADF68-4B3D-A123-38ED-458FA753FABB}" dt="2026-01-13T04:17:30.558" v="0" actId="33475"/>
          <ac:spMkLst>
            <pc:docMk/>
            <pc:sldMasterMk cId="0" sldId="2147483648"/>
            <ac:spMk id="10" creationId="{3A955C39-EDC8-AC8A-3C94-EDEA240D8B0D}"/>
          </ac:spMkLst>
        </pc:sp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
        <p:nvSpPr>
          <p:cNvPr id="9" name="TextBox 8">
            <a:extLst>
              <a:ext uri="{FF2B5EF4-FFF2-40B4-BE49-F238E27FC236}">
                <a16:creationId xmlns:a16="http://schemas.microsoft.com/office/drawing/2014/main" id="{1A022A82-C18F-9246-27B8-EA8D78E9550F}"/>
              </a:ext>
            </a:extLst>
          </p:cNvPr>
          <p:cNvSpPr txBox="1"/>
          <p:nvPr>
            <p:extLst>
              <p:ext uri="{1162E1C5-73C7-4A58-AE30-91384D911F3F}">
                <p184:classification xmlns:p184="http://schemas.microsoft.com/office/powerpoint/2018/4/main" val="hdr"/>
              </p:ext>
            </p:extLst>
          </p:nvPr>
        </p:nvSpPr>
        <p:spPr>
          <a:xfrm>
            <a:off x="63500" y="63500"/>
            <a:ext cx="444500" cy="152400"/>
          </a:xfrm>
          <a:prstGeom prst="rect">
            <a:avLst/>
          </a:prstGeom>
        </p:spPr>
        <p:txBody>
          <a:bodyPr horzOverflow="overflow" lIns="0" tIns="0" rIns="0" bIns="0">
            <a:spAutoFit/>
          </a:bodyPr>
          <a:lstStyle/>
          <a:p>
            <a:pPr algn="l"/>
            <a:r>
              <a:rPr lang="en-US" sz="1000">
                <a:solidFill>
                  <a:srgbClr val="008000">
                    <a:alpha val="50000"/>
                  </a:srgbClr>
                </a:solidFill>
                <a:latin typeface="Aptos" panose="020B0004020202020204" pitchFamily="34" charset="0"/>
              </a:rPr>
              <a:t>PUBLIC</a:t>
            </a:r>
          </a:p>
        </p:txBody>
      </p:sp>
      <p:sp>
        <p:nvSpPr>
          <p:cNvPr id="10" name="TextBox 9">
            <a:extLst>
              <a:ext uri="{FF2B5EF4-FFF2-40B4-BE49-F238E27FC236}">
                <a16:creationId xmlns:a16="http://schemas.microsoft.com/office/drawing/2014/main" id="{3A955C39-EDC8-AC8A-3C94-EDEA240D8B0D}"/>
              </a:ext>
            </a:extLst>
          </p:cNvPr>
          <p:cNvSpPr txBox="1"/>
          <p:nvPr>
            <p:extLst>
              <p:ext uri="{1162E1C5-73C7-4A58-AE30-91384D911F3F}">
                <p184:classification xmlns:p184="http://schemas.microsoft.com/office/powerpoint/2018/4/main" val="watermark"/>
              </p:ext>
            </p:extLst>
          </p:nvPr>
        </p:nvSpPr>
        <p:spPr>
          <a:xfrm rot="-1800000">
            <a:off x="8512937" y="4914900"/>
            <a:ext cx="1339850" cy="457200"/>
          </a:xfrm>
          <a:prstGeom prst="rect">
            <a:avLst/>
          </a:prstGeom>
        </p:spPr>
        <p:txBody>
          <a:bodyPr horzOverflow="overflow" lIns="0" tIns="0" rIns="0" bIns="0">
            <a:spAutoFit/>
          </a:bodyPr>
          <a:lstStyle/>
          <a:p>
            <a:pPr algn="l"/>
            <a:r>
              <a:rPr lang="en-US" sz="3000">
                <a:solidFill>
                  <a:srgbClr val="000000">
                    <a:alpha val="50000"/>
                  </a:srgbClr>
                </a:solidFill>
                <a:latin typeface="Aptos" panose="020B0004020202020204" pitchFamily="34" charset="0"/>
              </a:rPr>
              <a:t>PUBLIC</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2.sv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2.sv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9.jpeg"/><Relationship Id="rId5" Type="http://schemas.openxmlformats.org/officeDocument/2006/relationships/image" Target="../media/image2.sv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10.jpeg"/><Relationship Id="rId5" Type="http://schemas.openxmlformats.org/officeDocument/2006/relationships/image" Target="../media/image2.sv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11.jpeg"/></Relationships>
</file>

<file path=ppt/slides/_rels/slide1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12.jpeg"/><Relationship Id="rId5" Type="http://schemas.openxmlformats.org/officeDocument/2006/relationships/image" Target="../media/image2.sv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14.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2.sv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hyperlink" Target="https://link.springer.com/article/10.1186/s40537-024-00948-z?utm_source=chatgpt.com" TargetMode="External"/><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hyperlink" Target="https://arxiv.org/abs/2010.00462?utm_source=chatgpt.com" TargetMode="External"/><Relationship Id="rId5" Type="http://schemas.openxmlformats.org/officeDocument/2006/relationships/image" Target="../media/image2.sv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9309044">
            <a:off x="-1225797" y="-2356518"/>
            <a:ext cx="6260298" cy="8083019"/>
          </a:xfrm>
          <a:custGeom>
            <a:avLst/>
            <a:gdLst/>
            <a:ahLst/>
            <a:cxnLst/>
            <a:rect l="l" t="t" r="r" b="b"/>
            <a:pathLst>
              <a:path w="6260298" h="8083019">
                <a:moveTo>
                  <a:pt x="0" y="0"/>
                </a:moveTo>
                <a:lnTo>
                  <a:pt x="6260298" y="0"/>
                </a:lnTo>
                <a:lnTo>
                  <a:pt x="6260298" y="8083018"/>
                </a:lnTo>
                <a:lnTo>
                  <a:pt x="0" y="808301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1327019" y="7743297"/>
            <a:ext cx="5116055" cy="2277402"/>
            <a:chOff x="0" y="0"/>
            <a:chExt cx="1347438" cy="599809"/>
          </a:xfrm>
        </p:grpSpPr>
        <p:sp>
          <p:nvSpPr>
            <p:cNvPr id="4" name="Freeform 4"/>
            <p:cNvSpPr/>
            <p:nvPr/>
          </p:nvSpPr>
          <p:spPr>
            <a:xfrm>
              <a:off x="0" y="0"/>
              <a:ext cx="1347438" cy="599809"/>
            </a:xfrm>
            <a:custGeom>
              <a:avLst/>
              <a:gdLst/>
              <a:ahLst/>
              <a:cxnLst/>
              <a:rect l="l" t="t" r="r" b="b"/>
              <a:pathLst>
                <a:path w="1347438" h="599809">
                  <a:moveTo>
                    <a:pt x="0" y="0"/>
                  </a:moveTo>
                  <a:lnTo>
                    <a:pt x="1347438" y="0"/>
                  </a:lnTo>
                  <a:lnTo>
                    <a:pt x="1347438" y="599809"/>
                  </a:lnTo>
                  <a:lnTo>
                    <a:pt x="0" y="599809"/>
                  </a:lnTo>
                  <a:close/>
                </a:path>
              </a:pathLst>
            </a:custGeom>
            <a:solidFill>
              <a:srgbClr val="F8BC00"/>
            </a:solidFill>
          </p:spPr>
        </p:sp>
        <p:sp>
          <p:nvSpPr>
            <p:cNvPr id="5" name="TextBox 5"/>
            <p:cNvSpPr txBox="1"/>
            <p:nvPr/>
          </p:nvSpPr>
          <p:spPr>
            <a:xfrm>
              <a:off x="0" y="-38100"/>
              <a:ext cx="1347438" cy="637909"/>
            </a:xfrm>
            <a:prstGeom prst="rect">
              <a:avLst/>
            </a:prstGeom>
          </p:spPr>
          <p:txBody>
            <a:bodyPr lIns="50800" tIns="50800" rIns="50800" bIns="50800" rtlCol="0" anchor="ctr"/>
            <a:lstStyle/>
            <a:p>
              <a:pPr algn="ctr">
                <a:lnSpc>
                  <a:spcPts val="2520"/>
                </a:lnSpc>
              </a:pPr>
              <a:endParaRPr/>
            </a:p>
          </p:txBody>
        </p:sp>
      </p:grpSp>
      <p:grpSp>
        <p:nvGrpSpPr>
          <p:cNvPr id="6" name="Group 6"/>
          <p:cNvGrpSpPr/>
          <p:nvPr/>
        </p:nvGrpSpPr>
        <p:grpSpPr>
          <a:xfrm rot="-2700000">
            <a:off x="15585444" y="776529"/>
            <a:ext cx="504343" cy="504343"/>
            <a:chOff x="0" y="0"/>
            <a:chExt cx="132831" cy="132831"/>
          </a:xfrm>
        </p:grpSpPr>
        <p:sp>
          <p:nvSpPr>
            <p:cNvPr id="7" name="Freeform 7"/>
            <p:cNvSpPr/>
            <p:nvPr/>
          </p:nvSpPr>
          <p:spPr>
            <a:xfrm>
              <a:off x="0" y="0"/>
              <a:ext cx="132831" cy="132831"/>
            </a:xfrm>
            <a:custGeom>
              <a:avLst/>
              <a:gdLst/>
              <a:ahLst/>
              <a:cxnLst/>
              <a:rect l="l" t="t" r="r" b="b"/>
              <a:pathLst>
                <a:path w="132831" h="132831">
                  <a:moveTo>
                    <a:pt x="0" y="0"/>
                  </a:moveTo>
                  <a:lnTo>
                    <a:pt x="132831" y="0"/>
                  </a:lnTo>
                  <a:lnTo>
                    <a:pt x="132831" y="132831"/>
                  </a:lnTo>
                  <a:lnTo>
                    <a:pt x="0" y="132831"/>
                  </a:lnTo>
                  <a:close/>
                </a:path>
              </a:pathLst>
            </a:custGeom>
            <a:solidFill>
              <a:srgbClr val="F8BC00"/>
            </a:solidFill>
          </p:spPr>
        </p:sp>
        <p:sp>
          <p:nvSpPr>
            <p:cNvPr id="8" name="TextBox 8"/>
            <p:cNvSpPr txBox="1"/>
            <p:nvPr/>
          </p:nvSpPr>
          <p:spPr>
            <a:xfrm>
              <a:off x="0" y="-38100"/>
              <a:ext cx="132831" cy="170931"/>
            </a:xfrm>
            <a:prstGeom prst="rect">
              <a:avLst/>
            </a:prstGeom>
          </p:spPr>
          <p:txBody>
            <a:bodyPr lIns="50800" tIns="50800" rIns="50800" bIns="50800" rtlCol="0" anchor="ctr"/>
            <a:lstStyle/>
            <a:p>
              <a:pPr algn="ctr">
                <a:lnSpc>
                  <a:spcPts val="2520"/>
                </a:lnSpc>
              </a:pPr>
              <a:endParaRPr/>
            </a:p>
          </p:txBody>
        </p:sp>
      </p:grpSp>
      <p:grpSp>
        <p:nvGrpSpPr>
          <p:cNvPr id="9" name="Group 9"/>
          <p:cNvGrpSpPr/>
          <p:nvPr/>
        </p:nvGrpSpPr>
        <p:grpSpPr>
          <a:xfrm rot="-2700000">
            <a:off x="5768802" y="9637213"/>
            <a:ext cx="317690" cy="317690"/>
            <a:chOff x="0" y="0"/>
            <a:chExt cx="83671" cy="83671"/>
          </a:xfrm>
        </p:grpSpPr>
        <p:sp>
          <p:nvSpPr>
            <p:cNvPr id="10" name="Freeform 10"/>
            <p:cNvSpPr/>
            <p:nvPr/>
          </p:nvSpPr>
          <p:spPr>
            <a:xfrm>
              <a:off x="0" y="0"/>
              <a:ext cx="83671" cy="83671"/>
            </a:xfrm>
            <a:custGeom>
              <a:avLst/>
              <a:gdLst/>
              <a:ahLst/>
              <a:cxnLst/>
              <a:rect l="l" t="t" r="r" b="b"/>
              <a:pathLst>
                <a:path w="83671" h="83671">
                  <a:moveTo>
                    <a:pt x="0" y="0"/>
                  </a:moveTo>
                  <a:lnTo>
                    <a:pt x="83671" y="0"/>
                  </a:lnTo>
                  <a:lnTo>
                    <a:pt x="83671" y="83671"/>
                  </a:lnTo>
                  <a:lnTo>
                    <a:pt x="0" y="83671"/>
                  </a:lnTo>
                  <a:close/>
                </a:path>
              </a:pathLst>
            </a:custGeom>
            <a:solidFill>
              <a:srgbClr val="F8BC00"/>
            </a:solidFill>
          </p:spPr>
        </p:sp>
        <p:sp>
          <p:nvSpPr>
            <p:cNvPr id="11" name="TextBox 11"/>
            <p:cNvSpPr txBox="1"/>
            <p:nvPr/>
          </p:nvSpPr>
          <p:spPr>
            <a:xfrm>
              <a:off x="0" y="-38100"/>
              <a:ext cx="83671" cy="121771"/>
            </a:xfrm>
            <a:prstGeom prst="rect">
              <a:avLst/>
            </a:prstGeom>
          </p:spPr>
          <p:txBody>
            <a:bodyPr lIns="50800" tIns="50800" rIns="50800" bIns="50800" rtlCol="0" anchor="ctr"/>
            <a:lstStyle/>
            <a:p>
              <a:pPr algn="ctr">
                <a:lnSpc>
                  <a:spcPts val="2520"/>
                </a:lnSpc>
              </a:pPr>
              <a:endParaRPr/>
            </a:p>
          </p:txBody>
        </p:sp>
      </p:grpSp>
      <p:sp>
        <p:nvSpPr>
          <p:cNvPr id="12" name="TextBox 12"/>
          <p:cNvSpPr txBox="1"/>
          <p:nvPr/>
        </p:nvSpPr>
        <p:spPr>
          <a:xfrm>
            <a:off x="1185135" y="1104403"/>
            <a:ext cx="16556887" cy="3896774"/>
          </a:xfrm>
          <a:prstGeom prst="rect">
            <a:avLst/>
          </a:prstGeom>
        </p:spPr>
        <p:txBody>
          <a:bodyPr lIns="0" tIns="0" rIns="0" bIns="0" rtlCol="0" anchor="t">
            <a:spAutoFit/>
          </a:bodyPr>
          <a:lstStyle/>
          <a:p>
            <a:pPr algn="l">
              <a:lnSpc>
                <a:spcPts val="10396"/>
              </a:lnSpc>
            </a:pPr>
            <a:r>
              <a:rPr lang="en-US" sz="7425" b="1" spc="-571">
                <a:solidFill>
                  <a:srgbClr val="000000"/>
                </a:solidFill>
                <a:latin typeface="DM Sans Bold"/>
                <a:ea typeface="DM Sans Bold"/>
                <a:cs typeface="DM Sans Bold"/>
                <a:sym typeface="DM Sans Bold"/>
              </a:rPr>
              <a:t>GenAI-Based Intelligent Insurance Application Processing System</a:t>
            </a:r>
          </a:p>
          <a:p>
            <a:pPr algn="l">
              <a:lnSpc>
                <a:spcPts val="10396"/>
              </a:lnSpc>
              <a:spcBef>
                <a:spcPct val="0"/>
              </a:spcBef>
            </a:pPr>
            <a:endParaRPr lang="en-US" sz="7425" b="1" spc="-571">
              <a:solidFill>
                <a:srgbClr val="000000"/>
              </a:solidFill>
              <a:latin typeface="DM Sans Bold"/>
              <a:ea typeface="DM Sans Bold"/>
              <a:cs typeface="DM Sans Bold"/>
              <a:sym typeface="DM Sans Bold"/>
            </a:endParaRPr>
          </a:p>
        </p:txBody>
      </p:sp>
      <p:sp>
        <p:nvSpPr>
          <p:cNvPr id="13" name="Freeform 13"/>
          <p:cNvSpPr/>
          <p:nvPr/>
        </p:nvSpPr>
        <p:spPr>
          <a:xfrm>
            <a:off x="1327019" y="3803168"/>
            <a:ext cx="5116055" cy="3543158"/>
          </a:xfrm>
          <a:custGeom>
            <a:avLst/>
            <a:gdLst/>
            <a:ahLst/>
            <a:cxnLst/>
            <a:rect l="l" t="t" r="r" b="b"/>
            <a:pathLst>
              <a:path w="5116055" h="3543158">
                <a:moveTo>
                  <a:pt x="0" y="0"/>
                </a:moveTo>
                <a:lnTo>
                  <a:pt x="5116055" y="0"/>
                </a:lnTo>
                <a:lnTo>
                  <a:pt x="5116055" y="3543157"/>
                </a:lnTo>
                <a:lnTo>
                  <a:pt x="0" y="354315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4" name="TextBox 14"/>
          <p:cNvSpPr txBox="1"/>
          <p:nvPr/>
        </p:nvSpPr>
        <p:spPr>
          <a:xfrm>
            <a:off x="1527213" y="7897745"/>
            <a:ext cx="4715668" cy="2389255"/>
          </a:xfrm>
          <a:prstGeom prst="rect">
            <a:avLst/>
          </a:prstGeom>
        </p:spPr>
        <p:txBody>
          <a:bodyPr lIns="0" tIns="0" rIns="0" bIns="0" rtlCol="0" anchor="t">
            <a:spAutoFit/>
          </a:bodyPr>
          <a:lstStyle/>
          <a:p>
            <a:pPr algn="l">
              <a:lnSpc>
                <a:spcPts val="2708"/>
              </a:lnSpc>
            </a:pPr>
            <a:r>
              <a:rPr lang="en-US" sz="1934" b="1" dirty="0">
                <a:solidFill>
                  <a:srgbClr val="000000"/>
                </a:solidFill>
                <a:latin typeface="DM Sans Bold"/>
                <a:ea typeface="DM Sans Bold"/>
                <a:cs typeface="DM Sans Bold"/>
                <a:sym typeface="DM Sans Bold"/>
              </a:rPr>
              <a:t>PRESENTED BY: </a:t>
            </a:r>
          </a:p>
          <a:p>
            <a:pPr algn="l">
              <a:lnSpc>
                <a:spcPts val="2708"/>
              </a:lnSpc>
            </a:pPr>
            <a:r>
              <a:rPr lang="en-US" sz="1934" b="1" dirty="0">
                <a:solidFill>
                  <a:srgbClr val="000000"/>
                </a:solidFill>
                <a:latin typeface="DM Sans Bold"/>
                <a:ea typeface="DM Sans Bold"/>
                <a:cs typeface="DM Sans Bold"/>
                <a:sym typeface="DM Sans Bold"/>
              </a:rPr>
              <a:t>NAME : HIRTHICK S </a:t>
            </a:r>
          </a:p>
          <a:p>
            <a:pPr algn="l">
              <a:lnSpc>
                <a:spcPts val="2708"/>
              </a:lnSpc>
            </a:pPr>
            <a:r>
              <a:rPr lang="en-US" sz="1934" b="1" dirty="0">
                <a:solidFill>
                  <a:srgbClr val="000000"/>
                </a:solidFill>
                <a:latin typeface="DM Sans Bold"/>
                <a:ea typeface="DM Sans Bold"/>
                <a:cs typeface="DM Sans Bold"/>
                <a:sym typeface="DM Sans Bold"/>
              </a:rPr>
              <a:t>REG.NO : (917721S011)</a:t>
            </a:r>
          </a:p>
          <a:p>
            <a:pPr algn="l">
              <a:lnSpc>
                <a:spcPts val="2708"/>
              </a:lnSpc>
            </a:pPr>
            <a:r>
              <a:rPr lang="en-US" sz="1934" b="1" dirty="0">
                <a:solidFill>
                  <a:srgbClr val="000000"/>
                </a:solidFill>
                <a:latin typeface="DM Sans Bold"/>
                <a:ea typeface="DM Sans Bold"/>
                <a:cs typeface="DM Sans Bold"/>
                <a:sym typeface="DM Sans Bold"/>
              </a:rPr>
              <a:t>Semester : </a:t>
            </a:r>
            <a:r>
              <a:rPr lang="en-US" sz="1934" b="1" dirty="0" err="1">
                <a:solidFill>
                  <a:srgbClr val="000000"/>
                </a:solidFill>
                <a:latin typeface="DM Sans Bold"/>
                <a:ea typeface="DM Sans Bold"/>
                <a:cs typeface="DM Sans Bold"/>
                <a:sym typeface="DM Sans Bold"/>
              </a:rPr>
              <a:t>Xth</a:t>
            </a:r>
            <a:r>
              <a:rPr lang="en-US" sz="1934" b="1" dirty="0">
                <a:solidFill>
                  <a:srgbClr val="000000"/>
                </a:solidFill>
                <a:latin typeface="DM Sans Bold"/>
                <a:ea typeface="DM Sans Bold"/>
                <a:cs typeface="DM Sans Bold"/>
                <a:sym typeface="DM Sans Bold"/>
              </a:rPr>
              <a:t> </a:t>
            </a:r>
            <a:r>
              <a:rPr lang="en-US" sz="1934" b="1" dirty="0" err="1">
                <a:solidFill>
                  <a:srgbClr val="000000"/>
                </a:solidFill>
                <a:latin typeface="DM Sans Bold"/>
                <a:ea typeface="DM Sans Bold"/>
                <a:cs typeface="DM Sans Bold"/>
                <a:sym typeface="DM Sans Bold"/>
              </a:rPr>
              <a:t>Msc</a:t>
            </a:r>
            <a:r>
              <a:rPr lang="en-US" sz="1934" b="1" dirty="0">
                <a:solidFill>
                  <a:srgbClr val="000000"/>
                </a:solidFill>
                <a:latin typeface="DM Sans Bold"/>
                <a:ea typeface="DM Sans Bold"/>
                <a:cs typeface="DM Sans Bold"/>
                <a:sym typeface="DM Sans Bold"/>
              </a:rPr>
              <a:t>(</a:t>
            </a:r>
            <a:r>
              <a:rPr lang="en-US" sz="1934" b="1" dirty="0" err="1">
                <a:solidFill>
                  <a:srgbClr val="000000"/>
                </a:solidFill>
                <a:latin typeface="DM Sans Bold"/>
                <a:ea typeface="DM Sans Bold"/>
                <a:cs typeface="DM Sans Bold"/>
                <a:sym typeface="DM Sans Bold"/>
              </a:rPr>
              <a:t>DataScience</a:t>
            </a:r>
            <a:r>
              <a:rPr lang="en-US" sz="1934" b="1" dirty="0">
                <a:solidFill>
                  <a:srgbClr val="000000"/>
                </a:solidFill>
                <a:latin typeface="DM Sans Bold"/>
                <a:ea typeface="DM Sans Bold"/>
                <a:cs typeface="DM Sans Bold"/>
                <a:sym typeface="DM Sans Bold"/>
              </a:rPr>
              <a:t>)</a:t>
            </a:r>
          </a:p>
          <a:p>
            <a:pPr algn="l">
              <a:lnSpc>
                <a:spcPts val="2708"/>
              </a:lnSpc>
            </a:pPr>
            <a:r>
              <a:rPr lang="en-US" sz="1934" b="1" dirty="0">
                <a:solidFill>
                  <a:srgbClr val="000000"/>
                </a:solidFill>
                <a:latin typeface="DM Sans Bold"/>
                <a:ea typeface="DM Sans Bold"/>
                <a:cs typeface="DM Sans Bold"/>
                <a:sym typeface="DM Sans Bold"/>
              </a:rPr>
              <a:t>Department : Applied Mathematics and Computational Science</a:t>
            </a:r>
          </a:p>
          <a:p>
            <a:pPr algn="l">
              <a:lnSpc>
                <a:spcPts val="2708"/>
              </a:lnSpc>
              <a:spcBef>
                <a:spcPct val="0"/>
              </a:spcBef>
            </a:pPr>
            <a:endParaRPr lang="en-US" sz="1934" b="1" dirty="0">
              <a:solidFill>
                <a:srgbClr val="000000"/>
              </a:solidFill>
              <a:latin typeface="DM Sans Bold"/>
              <a:ea typeface="DM Sans Bold"/>
              <a:cs typeface="DM Sans Bold"/>
              <a:sym typeface="DM Sans Bold"/>
            </a:endParaRPr>
          </a:p>
        </p:txBody>
      </p:sp>
      <p:sp>
        <p:nvSpPr>
          <p:cNvPr id="15" name="TextBox 15"/>
          <p:cNvSpPr txBox="1"/>
          <p:nvPr/>
        </p:nvSpPr>
        <p:spPr>
          <a:xfrm>
            <a:off x="12137486" y="3862128"/>
            <a:ext cx="10911434" cy="2477217"/>
          </a:xfrm>
          <a:prstGeom prst="rect">
            <a:avLst/>
          </a:prstGeom>
        </p:spPr>
        <p:txBody>
          <a:bodyPr lIns="0" tIns="0" rIns="0" bIns="0" rtlCol="0" anchor="t">
            <a:spAutoFit/>
          </a:bodyPr>
          <a:lstStyle/>
          <a:p>
            <a:pPr algn="l">
              <a:lnSpc>
                <a:spcPts val="3882"/>
              </a:lnSpc>
              <a:spcBef>
                <a:spcPct val="0"/>
              </a:spcBef>
            </a:pPr>
            <a:r>
              <a:rPr lang="en-US" sz="2773" b="1" dirty="0">
                <a:solidFill>
                  <a:srgbClr val="000000"/>
                </a:solidFill>
                <a:latin typeface="DM Sans Bold"/>
                <a:ea typeface="DM Sans Bold"/>
                <a:cs typeface="DM Sans Bold"/>
                <a:sym typeface="DM Sans Bold"/>
              </a:rPr>
              <a:t>INTERNAL FACULTY GUIDE</a:t>
            </a:r>
          </a:p>
          <a:p>
            <a:pPr algn="l">
              <a:lnSpc>
                <a:spcPts val="3882"/>
              </a:lnSpc>
              <a:spcBef>
                <a:spcPct val="0"/>
              </a:spcBef>
            </a:pPr>
            <a:r>
              <a:rPr lang="en-US" sz="2773" dirty="0" err="1">
                <a:solidFill>
                  <a:srgbClr val="000000"/>
                </a:solidFill>
                <a:latin typeface="DM Sans"/>
                <a:ea typeface="DM Sans"/>
                <a:cs typeface="DM Sans"/>
                <a:sym typeface="DM Sans"/>
              </a:rPr>
              <a:t>Dr.S.T</a:t>
            </a:r>
            <a:r>
              <a:rPr lang="en-US" sz="2773" dirty="0">
                <a:solidFill>
                  <a:srgbClr val="000000"/>
                </a:solidFill>
                <a:latin typeface="DM Sans"/>
                <a:ea typeface="DM Sans"/>
                <a:cs typeface="DM Sans"/>
                <a:sym typeface="DM Sans"/>
              </a:rPr>
              <a:t>. Padmapriya </a:t>
            </a:r>
          </a:p>
          <a:p>
            <a:pPr algn="l">
              <a:lnSpc>
                <a:spcPts val="3882"/>
              </a:lnSpc>
              <a:spcBef>
                <a:spcPct val="0"/>
              </a:spcBef>
            </a:pPr>
            <a:r>
              <a:rPr lang="en-US" sz="2773" dirty="0">
                <a:solidFill>
                  <a:srgbClr val="000000"/>
                </a:solidFill>
                <a:latin typeface="DM Sans"/>
                <a:ea typeface="DM Sans"/>
                <a:cs typeface="DM Sans"/>
                <a:sym typeface="DM Sans"/>
              </a:rPr>
              <a:t>Assistant Professor, </a:t>
            </a:r>
          </a:p>
          <a:p>
            <a:pPr algn="l">
              <a:lnSpc>
                <a:spcPts val="3882"/>
              </a:lnSpc>
              <a:spcBef>
                <a:spcPct val="0"/>
              </a:spcBef>
            </a:pPr>
            <a:r>
              <a:rPr lang="en-US" sz="2773" dirty="0" err="1">
                <a:solidFill>
                  <a:srgbClr val="000000"/>
                </a:solidFill>
                <a:latin typeface="DM Sans"/>
                <a:ea typeface="DM Sans"/>
                <a:cs typeface="DM Sans"/>
                <a:sym typeface="DM Sans"/>
              </a:rPr>
              <a:t>Thiagarajar</a:t>
            </a:r>
            <a:r>
              <a:rPr lang="en-US" sz="2773" dirty="0">
                <a:solidFill>
                  <a:srgbClr val="000000"/>
                </a:solidFill>
                <a:latin typeface="DM Sans"/>
                <a:ea typeface="DM Sans"/>
                <a:cs typeface="DM Sans"/>
                <a:sym typeface="DM Sans"/>
              </a:rPr>
              <a:t> College of Engineering, </a:t>
            </a:r>
          </a:p>
          <a:p>
            <a:pPr algn="l">
              <a:lnSpc>
                <a:spcPts val="3882"/>
              </a:lnSpc>
              <a:spcBef>
                <a:spcPct val="0"/>
              </a:spcBef>
            </a:pPr>
            <a:r>
              <a:rPr lang="en-US" sz="2773" dirty="0">
                <a:solidFill>
                  <a:srgbClr val="000000"/>
                </a:solidFill>
                <a:latin typeface="DM Sans"/>
                <a:ea typeface="DM Sans"/>
                <a:cs typeface="DM Sans"/>
                <a:sym typeface="DM Sans"/>
              </a:rPr>
              <a:t>Madurai.</a:t>
            </a:r>
          </a:p>
        </p:txBody>
      </p:sp>
      <p:sp>
        <p:nvSpPr>
          <p:cNvPr id="16" name="TextBox 16"/>
          <p:cNvSpPr txBox="1"/>
          <p:nvPr/>
        </p:nvSpPr>
        <p:spPr>
          <a:xfrm>
            <a:off x="12137486" y="7488570"/>
            <a:ext cx="5061564" cy="2313352"/>
          </a:xfrm>
          <a:prstGeom prst="rect">
            <a:avLst/>
          </a:prstGeom>
        </p:spPr>
        <p:txBody>
          <a:bodyPr lIns="0" tIns="0" rIns="0" bIns="0" rtlCol="0" anchor="t">
            <a:spAutoFit/>
          </a:bodyPr>
          <a:lstStyle/>
          <a:p>
            <a:pPr algn="just">
              <a:lnSpc>
                <a:spcPts val="3742"/>
              </a:lnSpc>
              <a:spcBef>
                <a:spcPct val="0"/>
              </a:spcBef>
            </a:pPr>
            <a:r>
              <a:rPr lang="en-US" sz="2673" b="1">
                <a:solidFill>
                  <a:srgbClr val="000000"/>
                </a:solidFill>
                <a:latin typeface="DM Sans Bold"/>
                <a:ea typeface="DM Sans Bold"/>
                <a:cs typeface="DM Sans Bold"/>
                <a:sym typeface="DM Sans Bold"/>
              </a:rPr>
              <a:t>EXTERNAL INDUSTRY GUIDE</a:t>
            </a:r>
          </a:p>
          <a:p>
            <a:pPr algn="just">
              <a:lnSpc>
                <a:spcPts val="3742"/>
              </a:lnSpc>
              <a:spcBef>
                <a:spcPct val="0"/>
              </a:spcBef>
            </a:pPr>
            <a:r>
              <a:rPr lang="en-US" sz="2673">
                <a:solidFill>
                  <a:srgbClr val="000000"/>
                </a:solidFill>
                <a:latin typeface="DM Sans"/>
                <a:ea typeface="DM Sans"/>
                <a:cs typeface="DM Sans"/>
                <a:sym typeface="DM Sans"/>
              </a:rPr>
              <a:t>Mr. Aravinthan Vivekanandan</a:t>
            </a:r>
          </a:p>
          <a:p>
            <a:pPr algn="just">
              <a:lnSpc>
                <a:spcPts val="3742"/>
              </a:lnSpc>
              <a:spcBef>
                <a:spcPct val="0"/>
              </a:spcBef>
            </a:pPr>
            <a:r>
              <a:rPr lang="en-US" sz="2673">
                <a:solidFill>
                  <a:srgbClr val="000000"/>
                </a:solidFill>
                <a:latin typeface="DM Sans"/>
                <a:ea typeface="DM Sans"/>
                <a:cs typeface="DM Sans"/>
                <a:sym typeface="DM Sans"/>
              </a:rPr>
              <a:t>Principal Engineer (Team Lead),</a:t>
            </a:r>
          </a:p>
          <a:p>
            <a:pPr algn="just">
              <a:lnSpc>
                <a:spcPts val="3742"/>
              </a:lnSpc>
              <a:spcBef>
                <a:spcPct val="0"/>
              </a:spcBef>
            </a:pPr>
            <a:r>
              <a:rPr lang="en-US" sz="2673">
                <a:solidFill>
                  <a:srgbClr val="000000"/>
                </a:solidFill>
                <a:latin typeface="DM Sans"/>
                <a:ea typeface="DM Sans"/>
                <a:cs typeface="DM Sans"/>
                <a:sym typeface="DM Sans"/>
              </a:rPr>
              <a:t>D3minds Cyber Solutions,</a:t>
            </a:r>
          </a:p>
          <a:p>
            <a:pPr algn="just">
              <a:lnSpc>
                <a:spcPts val="3742"/>
              </a:lnSpc>
              <a:spcBef>
                <a:spcPct val="0"/>
              </a:spcBef>
            </a:pPr>
            <a:r>
              <a:rPr lang="en-US" sz="2673">
                <a:solidFill>
                  <a:srgbClr val="000000"/>
                </a:solidFill>
                <a:latin typeface="DM Sans"/>
                <a:ea typeface="DM Sans"/>
                <a:cs typeface="DM Sans"/>
                <a:sym typeface="DM Sans"/>
              </a:rPr>
              <a:t>Madurai.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0800000">
            <a:off x="14012579" y="8227503"/>
            <a:ext cx="4909918" cy="2721409"/>
          </a:xfrm>
          <a:custGeom>
            <a:avLst/>
            <a:gdLst/>
            <a:ahLst/>
            <a:cxnLst/>
            <a:rect l="l" t="t" r="r" b="b"/>
            <a:pathLst>
              <a:path w="4909918" h="2721409">
                <a:moveTo>
                  <a:pt x="0" y="0"/>
                </a:moveTo>
                <a:lnTo>
                  <a:pt x="4909918" y="0"/>
                </a:lnTo>
                <a:lnTo>
                  <a:pt x="4909918" y="2721409"/>
                </a:lnTo>
                <a:lnTo>
                  <a:pt x="0" y="27214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rot="-2700000">
            <a:off x="180118" y="8293299"/>
            <a:ext cx="317690" cy="317690"/>
            <a:chOff x="0" y="0"/>
            <a:chExt cx="83671" cy="83671"/>
          </a:xfrm>
        </p:grpSpPr>
        <p:sp>
          <p:nvSpPr>
            <p:cNvPr id="4" name="Freeform 4"/>
            <p:cNvSpPr/>
            <p:nvPr/>
          </p:nvSpPr>
          <p:spPr>
            <a:xfrm>
              <a:off x="0" y="0"/>
              <a:ext cx="83671" cy="83671"/>
            </a:xfrm>
            <a:custGeom>
              <a:avLst/>
              <a:gdLst/>
              <a:ahLst/>
              <a:cxnLst/>
              <a:rect l="l" t="t" r="r" b="b"/>
              <a:pathLst>
                <a:path w="83671" h="83671">
                  <a:moveTo>
                    <a:pt x="0" y="0"/>
                  </a:moveTo>
                  <a:lnTo>
                    <a:pt x="83671" y="0"/>
                  </a:lnTo>
                  <a:lnTo>
                    <a:pt x="83671" y="83671"/>
                  </a:lnTo>
                  <a:lnTo>
                    <a:pt x="0" y="83671"/>
                  </a:lnTo>
                  <a:close/>
                </a:path>
              </a:pathLst>
            </a:custGeom>
            <a:solidFill>
              <a:srgbClr val="F8BC00"/>
            </a:solidFill>
          </p:spPr>
        </p:sp>
        <p:sp>
          <p:nvSpPr>
            <p:cNvPr id="5" name="TextBox 5"/>
            <p:cNvSpPr txBox="1"/>
            <p:nvPr/>
          </p:nvSpPr>
          <p:spPr>
            <a:xfrm>
              <a:off x="0" y="-38100"/>
              <a:ext cx="83671" cy="121771"/>
            </a:xfrm>
            <a:prstGeom prst="rect">
              <a:avLst/>
            </a:prstGeom>
          </p:spPr>
          <p:txBody>
            <a:bodyPr lIns="50800" tIns="50800" rIns="50800" bIns="50800" rtlCol="0" anchor="ctr"/>
            <a:lstStyle/>
            <a:p>
              <a:pPr algn="ctr">
                <a:lnSpc>
                  <a:spcPts val="2520"/>
                </a:lnSpc>
              </a:pPr>
              <a:endParaRPr/>
            </a:p>
          </p:txBody>
        </p:sp>
      </p:grpSp>
      <p:sp>
        <p:nvSpPr>
          <p:cNvPr id="6" name="TextBox 6"/>
          <p:cNvSpPr txBox="1"/>
          <p:nvPr/>
        </p:nvSpPr>
        <p:spPr>
          <a:xfrm>
            <a:off x="457652" y="705275"/>
            <a:ext cx="11248919" cy="1325878"/>
          </a:xfrm>
          <a:prstGeom prst="rect">
            <a:avLst/>
          </a:prstGeom>
        </p:spPr>
        <p:txBody>
          <a:bodyPr lIns="0" tIns="0" rIns="0" bIns="0" rtlCol="0" anchor="t">
            <a:spAutoFit/>
          </a:bodyPr>
          <a:lstStyle/>
          <a:p>
            <a:pPr algn="ctr">
              <a:lnSpc>
                <a:spcPts val="10920"/>
              </a:lnSpc>
              <a:spcBef>
                <a:spcPct val="0"/>
              </a:spcBef>
            </a:pPr>
            <a:r>
              <a:rPr lang="en-US" sz="7800" b="1" spc="-600">
                <a:solidFill>
                  <a:srgbClr val="000000"/>
                </a:solidFill>
                <a:latin typeface="DM Sans Bold"/>
                <a:ea typeface="DM Sans Bold"/>
                <a:cs typeface="DM Sans Bold"/>
                <a:sym typeface="DM Sans Bold"/>
              </a:rPr>
              <a:t>About the Organization  :</a:t>
            </a:r>
          </a:p>
        </p:txBody>
      </p:sp>
      <p:grpSp>
        <p:nvGrpSpPr>
          <p:cNvPr id="7" name="Group 7"/>
          <p:cNvGrpSpPr/>
          <p:nvPr/>
        </p:nvGrpSpPr>
        <p:grpSpPr>
          <a:xfrm rot="-2700000">
            <a:off x="17325096" y="464665"/>
            <a:ext cx="317690" cy="317690"/>
            <a:chOff x="0" y="0"/>
            <a:chExt cx="83671" cy="83671"/>
          </a:xfrm>
        </p:grpSpPr>
        <p:sp>
          <p:nvSpPr>
            <p:cNvPr id="8" name="Freeform 8"/>
            <p:cNvSpPr/>
            <p:nvPr/>
          </p:nvSpPr>
          <p:spPr>
            <a:xfrm>
              <a:off x="0" y="0"/>
              <a:ext cx="83671" cy="83671"/>
            </a:xfrm>
            <a:custGeom>
              <a:avLst/>
              <a:gdLst/>
              <a:ahLst/>
              <a:cxnLst/>
              <a:rect l="l" t="t" r="r" b="b"/>
              <a:pathLst>
                <a:path w="83671" h="83671">
                  <a:moveTo>
                    <a:pt x="0" y="0"/>
                  </a:moveTo>
                  <a:lnTo>
                    <a:pt x="83671" y="0"/>
                  </a:lnTo>
                  <a:lnTo>
                    <a:pt x="83671" y="83671"/>
                  </a:lnTo>
                  <a:lnTo>
                    <a:pt x="0" y="83671"/>
                  </a:lnTo>
                  <a:close/>
                </a:path>
              </a:pathLst>
            </a:custGeom>
            <a:solidFill>
              <a:srgbClr val="F8BC00"/>
            </a:solidFill>
          </p:spPr>
        </p:sp>
        <p:sp>
          <p:nvSpPr>
            <p:cNvPr id="9" name="TextBox 9"/>
            <p:cNvSpPr txBox="1"/>
            <p:nvPr/>
          </p:nvSpPr>
          <p:spPr>
            <a:xfrm>
              <a:off x="0" y="-38100"/>
              <a:ext cx="83671" cy="121771"/>
            </a:xfrm>
            <a:prstGeom prst="rect">
              <a:avLst/>
            </a:prstGeom>
          </p:spPr>
          <p:txBody>
            <a:bodyPr lIns="50800" tIns="50800" rIns="50800" bIns="50800" rtlCol="0" anchor="ctr"/>
            <a:lstStyle/>
            <a:p>
              <a:pPr algn="ctr">
                <a:lnSpc>
                  <a:spcPts val="2520"/>
                </a:lnSpc>
              </a:pPr>
              <a:endParaRPr/>
            </a:p>
          </p:txBody>
        </p:sp>
      </p:grpSp>
      <p:sp>
        <p:nvSpPr>
          <p:cNvPr id="10" name="Freeform 10"/>
          <p:cNvSpPr/>
          <p:nvPr/>
        </p:nvSpPr>
        <p:spPr>
          <a:xfrm rot="-9309044">
            <a:off x="-1705448" y="-2476266"/>
            <a:ext cx="6260298" cy="8083019"/>
          </a:xfrm>
          <a:custGeom>
            <a:avLst/>
            <a:gdLst/>
            <a:ahLst/>
            <a:cxnLst/>
            <a:rect l="l" t="t" r="r" b="b"/>
            <a:pathLst>
              <a:path w="6260298" h="8083019">
                <a:moveTo>
                  <a:pt x="0" y="0"/>
                </a:moveTo>
                <a:lnTo>
                  <a:pt x="6260298" y="0"/>
                </a:lnTo>
                <a:lnTo>
                  <a:pt x="6260298" y="8083019"/>
                </a:lnTo>
                <a:lnTo>
                  <a:pt x="0" y="808301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1" name="Freeform 11"/>
          <p:cNvSpPr/>
          <p:nvPr/>
        </p:nvSpPr>
        <p:spPr>
          <a:xfrm rot="-10800000" flipH="1">
            <a:off x="-1426259" y="8036469"/>
            <a:ext cx="4909918" cy="2721409"/>
          </a:xfrm>
          <a:custGeom>
            <a:avLst/>
            <a:gdLst/>
            <a:ahLst/>
            <a:cxnLst/>
            <a:rect l="l" t="t" r="r" b="b"/>
            <a:pathLst>
              <a:path w="4909918" h="2721409">
                <a:moveTo>
                  <a:pt x="4909918" y="0"/>
                </a:moveTo>
                <a:lnTo>
                  <a:pt x="0" y="0"/>
                </a:lnTo>
                <a:lnTo>
                  <a:pt x="0" y="2721409"/>
                </a:lnTo>
                <a:lnTo>
                  <a:pt x="4909918" y="2721409"/>
                </a:lnTo>
                <a:lnTo>
                  <a:pt x="4909918"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2" name="Freeform 12"/>
          <p:cNvSpPr/>
          <p:nvPr/>
        </p:nvSpPr>
        <p:spPr>
          <a:xfrm>
            <a:off x="10601750" y="-1664869"/>
            <a:ext cx="6327785" cy="6327785"/>
          </a:xfrm>
          <a:custGeom>
            <a:avLst/>
            <a:gdLst/>
            <a:ahLst/>
            <a:cxnLst/>
            <a:rect l="l" t="t" r="r" b="b"/>
            <a:pathLst>
              <a:path w="6327785" h="6327785">
                <a:moveTo>
                  <a:pt x="0" y="0"/>
                </a:moveTo>
                <a:lnTo>
                  <a:pt x="6327786" y="0"/>
                </a:lnTo>
                <a:lnTo>
                  <a:pt x="6327786" y="6327785"/>
                </a:lnTo>
                <a:lnTo>
                  <a:pt x="0" y="6327785"/>
                </a:lnTo>
                <a:lnTo>
                  <a:pt x="0" y="0"/>
                </a:lnTo>
                <a:close/>
              </a:path>
            </a:pathLst>
          </a:custGeom>
          <a:blipFill>
            <a:blip r:embed="rId6"/>
            <a:stretch>
              <a:fillRect/>
            </a:stretch>
          </a:blipFill>
        </p:spPr>
      </p:sp>
      <p:sp>
        <p:nvSpPr>
          <p:cNvPr id="13" name="TextBox 13"/>
          <p:cNvSpPr txBox="1"/>
          <p:nvPr/>
        </p:nvSpPr>
        <p:spPr>
          <a:xfrm>
            <a:off x="1194976" y="2326485"/>
            <a:ext cx="16288964" cy="2413609"/>
          </a:xfrm>
          <a:prstGeom prst="rect">
            <a:avLst/>
          </a:prstGeom>
        </p:spPr>
        <p:txBody>
          <a:bodyPr lIns="0" tIns="0" rIns="0" bIns="0" rtlCol="0" anchor="t">
            <a:spAutoFit/>
          </a:bodyPr>
          <a:lstStyle/>
          <a:p>
            <a:pPr algn="just">
              <a:lnSpc>
                <a:spcPts val="3779"/>
              </a:lnSpc>
              <a:spcBef>
                <a:spcPct val="0"/>
              </a:spcBef>
            </a:pPr>
            <a:r>
              <a:rPr lang="en-US" sz="2699" dirty="0">
                <a:solidFill>
                  <a:srgbClr val="000000"/>
                </a:solidFill>
                <a:latin typeface="DM Sans"/>
                <a:ea typeface="DM Sans"/>
                <a:cs typeface="DM Sans"/>
                <a:sym typeface="DM Sans"/>
              </a:rPr>
              <a:t>Established in 2018, D3minds Cyber Solution Private Limited operates as an innovative digital transformation partner specializing in Industry 4.0 and enterprise software development. The organization focuses on building high-quality products that enhance productivity and safety through cutting-edge technologies like Cloud Computing, Artificial Intelligence, and Cyber Security.</a:t>
            </a:r>
          </a:p>
          <a:p>
            <a:pPr algn="just">
              <a:lnSpc>
                <a:spcPts val="3779"/>
              </a:lnSpc>
              <a:spcBef>
                <a:spcPct val="0"/>
              </a:spcBef>
            </a:pPr>
            <a:endParaRPr lang="en-US" sz="2699" dirty="0">
              <a:solidFill>
                <a:srgbClr val="000000"/>
              </a:solidFill>
              <a:latin typeface="DM Sans"/>
              <a:ea typeface="DM Sans"/>
              <a:cs typeface="DM Sans"/>
              <a:sym typeface="DM Sans"/>
            </a:endParaRPr>
          </a:p>
        </p:txBody>
      </p:sp>
      <p:sp>
        <p:nvSpPr>
          <p:cNvPr id="14" name="TextBox 14"/>
          <p:cNvSpPr txBox="1"/>
          <p:nvPr/>
        </p:nvSpPr>
        <p:spPr>
          <a:xfrm>
            <a:off x="1194976" y="5037301"/>
            <a:ext cx="16288964" cy="931545"/>
          </a:xfrm>
          <a:prstGeom prst="rect">
            <a:avLst/>
          </a:prstGeom>
        </p:spPr>
        <p:txBody>
          <a:bodyPr lIns="0" tIns="0" rIns="0" bIns="0" rtlCol="0" anchor="t">
            <a:spAutoFit/>
          </a:bodyPr>
          <a:lstStyle/>
          <a:p>
            <a:pPr algn="just">
              <a:lnSpc>
                <a:spcPts val="3779"/>
              </a:lnSpc>
              <a:spcBef>
                <a:spcPct val="0"/>
              </a:spcBef>
            </a:pPr>
            <a:r>
              <a:rPr lang="en-US" sz="2699" b="1">
                <a:solidFill>
                  <a:srgbClr val="000000"/>
                </a:solidFill>
                <a:latin typeface="DM Sans Bold"/>
                <a:ea typeface="DM Sans Bold"/>
                <a:cs typeface="DM Sans Bold"/>
                <a:sym typeface="DM Sans Bold"/>
              </a:rPr>
              <a:t>Diverse Domain Expertise: </a:t>
            </a:r>
            <a:r>
              <a:rPr lang="en-US" sz="2699">
                <a:solidFill>
                  <a:srgbClr val="000000"/>
                </a:solidFill>
                <a:latin typeface="DM Sans"/>
                <a:ea typeface="DM Sans"/>
                <a:cs typeface="DM Sans"/>
                <a:sym typeface="DM Sans"/>
              </a:rPr>
              <a:t>They serve various industries including manufacturing, supply chain, and fintech by delivering scalable solutions such as warehouse management and execution systems.</a:t>
            </a:r>
          </a:p>
        </p:txBody>
      </p:sp>
      <p:sp>
        <p:nvSpPr>
          <p:cNvPr id="15" name="TextBox 15"/>
          <p:cNvSpPr txBox="1"/>
          <p:nvPr/>
        </p:nvSpPr>
        <p:spPr>
          <a:xfrm>
            <a:off x="1194976" y="6130771"/>
            <a:ext cx="16462391" cy="931545"/>
          </a:xfrm>
          <a:prstGeom prst="rect">
            <a:avLst/>
          </a:prstGeom>
        </p:spPr>
        <p:txBody>
          <a:bodyPr lIns="0" tIns="0" rIns="0" bIns="0" rtlCol="0" anchor="t">
            <a:spAutoFit/>
          </a:bodyPr>
          <a:lstStyle/>
          <a:p>
            <a:pPr algn="just">
              <a:lnSpc>
                <a:spcPts val="3779"/>
              </a:lnSpc>
              <a:spcBef>
                <a:spcPct val="0"/>
              </a:spcBef>
            </a:pPr>
            <a:r>
              <a:rPr lang="en-US" sz="2699" b="1">
                <a:solidFill>
                  <a:srgbClr val="000000"/>
                </a:solidFill>
                <a:latin typeface="DM Sans Bold"/>
                <a:ea typeface="DM Sans Bold"/>
                <a:cs typeface="DM Sans Bold"/>
                <a:sym typeface="DM Sans Bold"/>
              </a:rPr>
              <a:t>Customer-Centric Innovation</a:t>
            </a:r>
            <a:r>
              <a:rPr lang="en-US" sz="2699">
                <a:solidFill>
                  <a:srgbClr val="000000"/>
                </a:solidFill>
                <a:latin typeface="DM Sans"/>
                <a:ea typeface="DM Sans"/>
                <a:cs typeface="DM Sans"/>
                <a:sym typeface="DM Sans"/>
              </a:rPr>
              <a:t>: The company prioritizes speed and agility in deployment to help clients stay ahead of the technology curve while maintaining competitive pricing.</a:t>
            </a:r>
          </a:p>
        </p:txBody>
      </p:sp>
      <p:sp>
        <p:nvSpPr>
          <p:cNvPr id="16" name="TextBox 16"/>
          <p:cNvSpPr txBox="1"/>
          <p:nvPr/>
        </p:nvSpPr>
        <p:spPr>
          <a:xfrm>
            <a:off x="1194976" y="7295958"/>
            <a:ext cx="16237751" cy="931545"/>
          </a:xfrm>
          <a:prstGeom prst="rect">
            <a:avLst/>
          </a:prstGeom>
        </p:spPr>
        <p:txBody>
          <a:bodyPr lIns="0" tIns="0" rIns="0" bIns="0" rtlCol="0" anchor="t">
            <a:spAutoFit/>
          </a:bodyPr>
          <a:lstStyle/>
          <a:p>
            <a:pPr algn="just">
              <a:lnSpc>
                <a:spcPts val="3779"/>
              </a:lnSpc>
              <a:spcBef>
                <a:spcPct val="0"/>
              </a:spcBef>
            </a:pPr>
            <a:r>
              <a:rPr lang="en-US" sz="2699" b="1" dirty="0">
                <a:solidFill>
                  <a:srgbClr val="000000"/>
                </a:solidFill>
                <a:latin typeface="DM Sans Bold"/>
                <a:ea typeface="DM Sans Bold"/>
                <a:cs typeface="DM Sans Bold"/>
                <a:sym typeface="DM Sans Bold"/>
              </a:rPr>
              <a:t>Comprehensive Security Focus: </a:t>
            </a:r>
            <a:r>
              <a:rPr lang="en-US" sz="2699" dirty="0">
                <a:solidFill>
                  <a:srgbClr val="000000"/>
                </a:solidFill>
                <a:latin typeface="DM Sans"/>
                <a:ea typeface="DM Sans"/>
                <a:cs typeface="DM Sans"/>
                <a:sym typeface="DM Sans"/>
              </a:rPr>
              <a:t>D3minds provides robust cyber security services, including vulnerability assessments and cloud security across major platforms like AWS and Azure.</a:t>
            </a:r>
          </a:p>
        </p:txBody>
      </p:sp>
      <p:sp>
        <p:nvSpPr>
          <p:cNvPr id="17" name="TextBox 17"/>
          <p:cNvSpPr txBox="1"/>
          <p:nvPr/>
        </p:nvSpPr>
        <p:spPr>
          <a:xfrm>
            <a:off x="1194976" y="8465628"/>
            <a:ext cx="16487998" cy="931545"/>
          </a:xfrm>
          <a:prstGeom prst="rect">
            <a:avLst/>
          </a:prstGeom>
        </p:spPr>
        <p:txBody>
          <a:bodyPr lIns="0" tIns="0" rIns="0" bIns="0" rtlCol="0" anchor="t">
            <a:spAutoFit/>
          </a:bodyPr>
          <a:lstStyle/>
          <a:p>
            <a:pPr algn="l">
              <a:lnSpc>
                <a:spcPts val="3779"/>
              </a:lnSpc>
              <a:spcBef>
                <a:spcPct val="0"/>
              </a:spcBef>
            </a:pPr>
            <a:r>
              <a:rPr lang="en-US" sz="2699" b="1">
                <a:solidFill>
                  <a:srgbClr val="000000"/>
                </a:solidFill>
                <a:latin typeface="DM Sans Bold"/>
                <a:ea typeface="DM Sans Bold"/>
                <a:cs typeface="DM Sans Bold"/>
                <a:sym typeface="DM Sans Bold"/>
              </a:rPr>
              <a:t>Talent-Driven Culture:</a:t>
            </a:r>
            <a:r>
              <a:rPr lang="en-US" sz="2699">
                <a:solidFill>
                  <a:srgbClr val="000000"/>
                </a:solidFill>
                <a:latin typeface="DM Sans"/>
                <a:ea typeface="DM Sans"/>
                <a:cs typeface="DM Sans"/>
                <a:sym typeface="DM Sans"/>
              </a:rPr>
              <a:t> They foster a collaborative and skill-oriented work environment that encourages continuous learning and professional development for its team of experts.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0800000">
            <a:off x="14012579" y="8227503"/>
            <a:ext cx="4909918" cy="2721409"/>
          </a:xfrm>
          <a:custGeom>
            <a:avLst/>
            <a:gdLst/>
            <a:ahLst/>
            <a:cxnLst/>
            <a:rect l="l" t="t" r="r" b="b"/>
            <a:pathLst>
              <a:path w="4909918" h="2721409">
                <a:moveTo>
                  <a:pt x="0" y="0"/>
                </a:moveTo>
                <a:lnTo>
                  <a:pt x="4909918" y="0"/>
                </a:lnTo>
                <a:lnTo>
                  <a:pt x="4909918" y="2721409"/>
                </a:lnTo>
                <a:lnTo>
                  <a:pt x="0" y="27214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rot="-2700000">
            <a:off x="180118" y="8293299"/>
            <a:ext cx="317690" cy="317690"/>
            <a:chOff x="0" y="0"/>
            <a:chExt cx="83671" cy="83671"/>
          </a:xfrm>
        </p:grpSpPr>
        <p:sp>
          <p:nvSpPr>
            <p:cNvPr id="4" name="Freeform 4"/>
            <p:cNvSpPr/>
            <p:nvPr/>
          </p:nvSpPr>
          <p:spPr>
            <a:xfrm>
              <a:off x="0" y="0"/>
              <a:ext cx="83671" cy="83671"/>
            </a:xfrm>
            <a:custGeom>
              <a:avLst/>
              <a:gdLst/>
              <a:ahLst/>
              <a:cxnLst/>
              <a:rect l="l" t="t" r="r" b="b"/>
              <a:pathLst>
                <a:path w="83671" h="83671">
                  <a:moveTo>
                    <a:pt x="0" y="0"/>
                  </a:moveTo>
                  <a:lnTo>
                    <a:pt x="83671" y="0"/>
                  </a:lnTo>
                  <a:lnTo>
                    <a:pt x="83671" y="83671"/>
                  </a:lnTo>
                  <a:lnTo>
                    <a:pt x="0" y="83671"/>
                  </a:lnTo>
                  <a:close/>
                </a:path>
              </a:pathLst>
            </a:custGeom>
            <a:solidFill>
              <a:srgbClr val="F8BC00"/>
            </a:solidFill>
          </p:spPr>
        </p:sp>
        <p:sp>
          <p:nvSpPr>
            <p:cNvPr id="5" name="TextBox 5"/>
            <p:cNvSpPr txBox="1"/>
            <p:nvPr/>
          </p:nvSpPr>
          <p:spPr>
            <a:xfrm>
              <a:off x="0" y="-38100"/>
              <a:ext cx="83671" cy="121771"/>
            </a:xfrm>
            <a:prstGeom prst="rect">
              <a:avLst/>
            </a:prstGeom>
          </p:spPr>
          <p:txBody>
            <a:bodyPr lIns="50800" tIns="50800" rIns="50800" bIns="50800" rtlCol="0" anchor="ctr"/>
            <a:lstStyle/>
            <a:p>
              <a:pPr algn="ctr">
                <a:lnSpc>
                  <a:spcPts val="2520"/>
                </a:lnSpc>
              </a:pPr>
              <a:endParaRPr/>
            </a:p>
          </p:txBody>
        </p:sp>
      </p:grpSp>
      <p:sp>
        <p:nvSpPr>
          <p:cNvPr id="6" name="TextBox 6"/>
          <p:cNvSpPr txBox="1"/>
          <p:nvPr/>
        </p:nvSpPr>
        <p:spPr>
          <a:xfrm>
            <a:off x="-1335963" y="246469"/>
            <a:ext cx="11383447" cy="1349551"/>
          </a:xfrm>
          <a:prstGeom prst="rect">
            <a:avLst/>
          </a:prstGeom>
        </p:spPr>
        <p:txBody>
          <a:bodyPr lIns="0" tIns="0" rIns="0" bIns="0" rtlCol="0" anchor="t">
            <a:spAutoFit/>
          </a:bodyPr>
          <a:lstStyle/>
          <a:p>
            <a:pPr algn="ctr">
              <a:lnSpc>
                <a:spcPts val="11050"/>
              </a:lnSpc>
              <a:spcBef>
                <a:spcPct val="0"/>
              </a:spcBef>
            </a:pPr>
            <a:r>
              <a:rPr lang="en-US" sz="7893" b="1" spc="-607">
                <a:solidFill>
                  <a:srgbClr val="000000"/>
                </a:solidFill>
                <a:latin typeface="DM Sans Bold"/>
                <a:ea typeface="DM Sans Bold"/>
                <a:cs typeface="DM Sans Bold"/>
                <a:sym typeface="DM Sans Bold"/>
              </a:rPr>
              <a:t>Introduction</a:t>
            </a:r>
          </a:p>
        </p:txBody>
      </p:sp>
      <p:grpSp>
        <p:nvGrpSpPr>
          <p:cNvPr id="7" name="Group 7"/>
          <p:cNvGrpSpPr/>
          <p:nvPr/>
        </p:nvGrpSpPr>
        <p:grpSpPr>
          <a:xfrm rot="-2700000">
            <a:off x="17325096" y="464665"/>
            <a:ext cx="317690" cy="317690"/>
            <a:chOff x="0" y="0"/>
            <a:chExt cx="83671" cy="83671"/>
          </a:xfrm>
        </p:grpSpPr>
        <p:sp>
          <p:nvSpPr>
            <p:cNvPr id="8" name="Freeform 8"/>
            <p:cNvSpPr/>
            <p:nvPr/>
          </p:nvSpPr>
          <p:spPr>
            <a:xfrm>
              <a:off x="0" y="0"/>
              <a:ext cx="83671" cy="83671"/>
            </a:xfrm>
            <a:custGeom>
              <a:avLst/>
              <a:gdLst/>
              <a:ahLst/>
              <a:cxnLst/>
              <a:rect l="l" t="t" r="r" b="b"/>
              <a:pathLst>
                <a:path w="83671" h="83671">
                  <a:moveTo>
                    <a:pt x="0" y="0"/>
                  </a:moveTo>
                  <a:lnTo>
                    <a:pt x="83671" y="0"/>
                  </a:lnTo>
                  <a:lnTo>
                    <a:pt x="83671" y="83671"/>
                  </a:lnTo>
                  <a:lnTo>
                    <a:pt x="0" y="83671"/>
                  </a:lnTo>
                  <a:close/>
                </a:path>
              </a:pathLst>
            </a:custGeom>
            <a:solidFill>
              <a:srgbClr val="F8BC00"/>
            </a:solidFill>
          </p:spPr>
        </p:sp>
        <p:sp>
          <p:nvSpPr>
            <p:cNvPr id="9" name="TextBox 9"/>
            <p:cNvSpPr txBox="1"/>
            <p:nvPr/>
          </p:nvSpPr>
          <p:spPr>
            <a:xfrm>
              <a:off x="0" y="-38100"/>
              <a:ext cx="83671" cy="121771"/>
            </a:xfrm>
            <a:prstGeom prst="rect">
              <a:avLst/>
            </a:prstGeom>
          </p:spPr>
          <p:txBody>
            <a:bodyPr lIns="50800" tIns="50800" rIns="50800" bIns="50800" rtlCol="0" anchor="ctr"/>
            <a:lstStyle/>
            <a:p>
              <a:pPr algn="ctr">
                <a:lnSpc>
                  <a:spcPts val="2520"/>
                </a:lnSpc>
              </a:pPr>
              <a:endParaRPr/>
            </a:p>
          </p:txBody>
        </p:sp>
      </p:grpSp>
      <p:sp>
        <p:nvSpPr>
          <p:cNvPr id="10" name="Freeform 10"/>
          <p:cNvSpPr/>
          <p:nvPr/>
        </p:nvSpPr>
        <p:spPr>
          <a:xfrm rot="-9309044">
            <a:off x="-962323" y="-3012809"/>
            <a:ext cx="6260298" cy="8083019"/>
          </a:xfrm>
          <a:custGeom>
            <a:avLst/>
            <a:gdLst/>
            <a:ahLst/>
            <a:cxnLst/>
            <a:rect l="l" t="t" r="r" b="b"/>
            <a:pathLst>
              <a:path w="6260298" h="8083019">
                <a:moveTo>
                  <a:pt x="0" y="0"/>
                </a:moveTo>
                <a:lnTo>
                  <a:pt x="6260298" y="0"/>
                </a:lnTo>
                <a:lnTo>
                  <a:pt x="6260298" y="8083018"/>
                </a:lnTo>
                <a:lnTo>
                  <a:pt x="0" y="808301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1" name="Freeform 11"/>
          <p:cNvSpPr/>
          <p:nvPr/>
        </p:nvSpPr>
        <p:spPr>
          <a:xfrm rot="-10800000" flipH="1">
            <a:off x="-1234376" y="7897596"/>
            <a:ext cx="4909918" cy="2721409"/>
          </a:xfrm>
          <a:custGeom>
            <a:avLst/>
            <a:gdLst/>
            <a:ahLst/>
            <a:cxnLst/>
            <a:rect l="l" t="t" r="r" b="b"/>
            <a:pathLst>
              <a:path w="4909918" h="2721409">
                <a:moveTo>
                  <a:pt x="4909918" y="0"/>
                </a:moveTo>
                <a:lnTo>
                  <a:pt x="0" y="0"/>
                </a:lnTo>
                <a:lnTo>
                  <a:pt x="0" y="2721408"/>
                </a:lnTo>
                <a:lnTo>
                  <a:pt x="4909918" y="2721408"/>
                </a:lnTo>
                <a:lnTo>
                  <a:pt x="4909918"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2" name="TextBox 12"/>
          <p:cNvSpPr txBox="1"/>
          <p:nvPr/>
        </p:nvSpPr>
        <p:spPr>
          <a:xfrm>
            <a:off x="1220583" y="1657111"/>
            <a:ext cx="16038717" cy="1407795"/>
          </a:xfrm>
          <a:prstGeom prst="rect">
            <a:avLst/>
          </a:prstGeom>
        </p:spPr>
        <p:txBody>
          <a:bodyPr lIns="0" tIns="0" rIns="0" bIns="0" rtlCol="0" anchor="t">
            <a:spAutoFit/>
          </a:bodyPr>
          <a:lstStyle/>
          <a:p>
            <a:pPr marL="582927" lvl="1" indent="-291463" algn="just">
              <a:lnSpc>
                <a:spcPts val="3779"/>
              </a:lnSpc>
              <a:buFont typeface="Arial"/>
              <a:buChar char="•"/>
            </a:pPr>
            <a:r>
              <a:rPr lang="en-US" sz="2699">
                <a:solidFill>
                  <a:srgbClr val="000000"/>
                </a:solidFill>
                <a:latin typeface="DM Sans"/>
                <a:ea typeface="DM Sans"/>
                <a:cs typeface="DM Sans"/>
                <a:sym typeface="DM Sans"/>
              </a:rPr>
              <a:t>The insurance industry processes thousands of applications every day, relying heavily on manual methods that take 5–7 days per application and result in 15–20% data entry errors. This delay and inaccuracy negatively impact underwriting efficiency and customer satisfaction.</a:t>
            </a:r>
          </a:p>
        </p:txBody>
      </p:sp>
      <p:sp>
        <p:nvSpPr>
          <p:cNvPr id="13" name="TextBox 13"/>
          <p:cNvSpPr txBox="1"/>
          <p:nvPr/>
        </p:nvSpPr>
        <p:spPr>
          <a:xfrm>
            <a:off x="1220583" y="3367606"/>
            <a:ext cx="16038717" cy="1884045"/>
          </a:xfrm>
          <a:prstGeom prst="rect">
            <a:avLst/>
          </a:prstGeom>
        </p:spPr>
        <p:txBody>
          <a:bodyPr lIns="0" tIns="0" rIns="0" bIns="0" rtlCol="0" anchor="t">
            <a:spAutoFit/>
          </a:bodyPr>
          <a:lstStyle/>
          <a:p>
            <a:pPr marL="582927" lvl="1" indent="-291463" algn="just">
              <a:lnSpc>
                <a:spcPts val="3779"/>
              </a:lnSpc>
              <a:buFont typeface="Arial"/>
              <a:buChar char="•"/>
            </a:pPr>
            <a:r>
              <a:rPr lang="en-US" sz="2699">
                <a:solidFill>
                  <a:srgbClr val="000000"/>
                </a:solidFill>
                <a:latin typeface="DM Sans"/>
                <a:ea typeface="DM Sans"/>
                <a:cs typeface="DM Sans"/>
                <a:sym typeface="DM Sans"/>
              </a:rPr>
              <a:t>Insurance application documents are largely unstructured, including handwritten medical histories, free-form questionnaires, scanned forms, PDFs, and email attachments. The lack of standardization across document formats makes automated data extraction complex and unreliable using traditional systems.</a:t>
            </a:r>
          </a:p>
        </p:txBody>
      </p:sp>
      <p:sp>
        <p:nvSpPr>
          <p:cNvPr id="14" name="TextBox 14"/>
          <p:cNvSpPr txBox="1"/>
          <p:nvPr/>
        </p:nvSpPr>
        <p:spPr>
          <a:xfrm>
            <a:off x="1220583" y="5556451"/>
            <a:ext cx="16038717" cy="1884045"/>
          </a:xfrm>
          <a:prstGeom prst="rect">
            <a:avLst/>
          </a:prstGeom>
        </p:spPr>
        <p:txBody>
          <a:bodyPr lIns="0" tIns="0" rIns="0" bIns="0" rtlCol="0" anchor="t">
            <a:spAutoFit/>
          </a:bodyPr>
          <a:lstStyle/>
          <a:p>
            <a:pPr marL="582927" lvl="1" indent="-291463" algn="just">
              <a:lnSpc>
                <a:spcPts val="3779"/>
              </a:lnSpc>
              <a:buFont typeface="Arial"/>
              <a:buChar char="•"/>
            </a:pPr>
            <a:r>
              <a:rPr lang="en-US" sz="2699">
                <a:solidFill>
                  <a:srgbClr val="000000"/>
                </a:solidFill>
                <a:latin typeface="DM Sans"/>
                <a:ea typeface="DM Sans"/>
                <a:cs typeface="DM Sans"/>
                <a:sym typeface="DM Sans"/>
              </a:rPr>
              <a:t>To address these challenges, this project proposes a GenAI-Based Intelligent Insurance Application Processing System using Microsoft Azure cloud services. The system combines OCR and Generative AI to understand and extract meaningful information from unstructured insurance documents.</a:t>
            </a:r>
          </a:p>
        </p:txBody>
      </p:sp>
      <p:sp>
        <p:nvSpPr>
          <p:cNvPr id="15" name="TextBox 15"/>
          <p:cNvSpPr txBox="1"/>
          <p:nvPr/>
        </p:nvSpPr>
        <p:spPr>
          <a:xfrm>
            <a:off x="1220583" y="7610872"/>
            <a:ext cx="16038717" cy="2285365"/>
          </a:xfrm>
          <a:prstGeom prst="rect">
            <a:avLst/>
          </a:prstGeom>
        </p:spPr>
        <p:txBody>
          <a:bodyPr lIns="0" tIns="0" rIns="0" bIns="0" rtlCol="0" anchor="t">
            <a:spAutoFit/>
          </a:bodyPr>
          <a:lstStyle/>
          <a:p>
            <a:pPr marL="561337" lvl="1" indent="-280669" algn="just">
              <a:lnSpc>
                <a:spcPts val="3639"/>
              </a:lnSpc>
              <a:buFont typeface="Arial"/>
              <a:buChar char="•"/>
            </a:pPr>
            <a:r>
              <a:rPr lang="en-US" sz="2599">
                <a:solidFill>
                  <a:srgbClr val="000000"/>
                </a:solidFill>
                <a:latin typeface="DM Sans"/>
                <a:ea typeface="DM Sans"/>
                <a:cs typeface="DM Sans"/>
                <a:sym typeface="DM Sans"/>
              </a:rPr>
              <a:t>The automated pipeline digitizes documents using Azure Form Recognizer, extracts key details using GPT-4, validates the data, and integrates it with insurance systems via APIs. This approach reduces processing time by 99%, improves accuracy to over 95%, and enables scalable processing of more than 1000 applications per hour.</a:t>
            </a:r>
          </a:p>
          <a:p>
            <a:pPr algn="just">
              <a:lnSpc>
                <a:spcPts val="3779"/>
              </a:lnSpc>
            </a:pPr>
            <a:endParaRPr lang="en-US" sz="2599">
              <a:solidFill>
                <a:srgbClr val="000000"/>
              </a:solidFill>
              <a:latin typeface="DM Sans"/>
              <a:ea typeface="DM Sans"/>
              <a:cs typeface="DM Sans"/>
              <a:sym typeface="DM Sa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0800000">
            <a:off x="14012579" y="8227503"/>
            <a:ext cx="4909918" cy="2721409"/>
          </a:xfrm>
          <a:custGeom>
            <a:avLst/>
            <a:gdLst/>
            <a:ahLst/>
            <a:cxnLst/>
            <a:rect l="l" t="t" r="r" b="b"/>
            <a:pathLst>
              <a:path w="4909918" h="2721409">
                <a:moveTo>
                  <a:pt x="0" y="0"/>
                </a:moveTo>
                <a:lnTo>
                  <a:pt x="4909918" y="0"/>
                </a:lnTo>
                <a:lnTo>
                  <a:pt x="4909918" y="2721409"/>
                </a:lnTo>
                <a:lnTo>
                  <a:pt x="0" y="27214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rot="-2700000">
            <a:off x="180118" y="8293299"/>
            <a:ext cx="317690" cy="317690"/>
            <a:chOff x="0" y="0"/>
            <a:chExt cx="83671" cy="83671"/>
          </a:xfrm>
        </p:grpSpPr>
        <p:sp>
          <p:nvSpPr>
            <p:cNvPr id="4" name="Freeform 4"/>
            <p:cNvSpPr/>
            <p:nvPr/>
          </p:nvSpPr>
          <p:spPr>
            <a:xfrm>
              <a:off x="0" y="0"/>
              <a:ext cx="83671" cy="83671"/>
            </a:xfrm>
            <a:custGeom>
              <a:avLst/>
              <a:gdLst/>
              <a:ahLst/>
              <a:cxnLst/>
              <a:rect l="l" t="t" r="r" b="b"/>
              <a:pathLst>
                <a:path w="83671" h="83671">
                  <a:moveTo>
                    <a:pt x="0" y="0"/>
                  </a:moveTo>
                  <a:lnTo>
                    <a:pt x="83671" y="0"/>
                  </a:lnTo>
                  <a:lnTo>
                    <a:pt x="83671" y="83671"/>
                  </a:lnTo>
                  <a:lnTo>
                    <a:pt x="0" y="83671"/>
                  </a:lnTo>
                  <a:close/>
                </a:path>
              </a:pathLst>
            </a:custGeom>
            <a:solidFill>
              <a:srgbClr val="F8BC00"/>
            </a:solidFill>
          </p:spPr>
        </p:sp>
        <p:sp>
          <p:nvSpPr>
            <p:cNvPr id="5" name="TextBox 5"/>
            <p:cNvSpPr txBox="1"/>
            <p:nvPr/>
          </p:nvSpPr>
          <p:spPr>
            <a:xfrm>
              <a:off x="0" y="-38100"/>
              <a:ext cx="83671" cy="121771"/>
            </a:xfrm>
            <a:prstGeom prst="rect">
              <a:avLst/>
            </a:prstGeom>
          </p:spPr>
          <p:txBody>
            <a:bodyPr lIns="50800" tIns="50800" rIns="50800" bIns="50800" rtlCol="0" anchor="ctr"/>
            <a:lstStyle/>
            <a:p>
              <a:pPr algn="ctr">
                <a:lnSpc>
                  <a:spcPts val="2520"/>
                </a:lnSpc>
              </a:pPr>
              <a:endParaRPr/>
            </a:p>
          </p:txBody>
        </p:sp>
      </p:grpSp>
      <p:sp>
        <p:nvSpPr>
          <p:cNvPr id="6" name="TextBox 6"/>
          <p:cNvSpPr txBox="1"/>
          <p:nvPr/>
        </p:nvSpPr>
        <p:spPr>
          <a:xfrm>
            <a:off x="-2143505" y="97175"/>
            <a:ext cx="11383447" cy="1349551"/>
          </a:xfrm>
          <a:prstGeom prst="rect">
            <a:avLst/>
          </a:prstGeom>
        </p:spPr>
        <p:txBody>
          <a:bodyPr lIns="0" tIns="0" rIns="0" bIns="0" rtlCol="0" anchor="t">
            <a:spAutoFit/>
          </a:bodyPr>
          <a:lstStyle/>
          <a:p>
            <a:pPr algn="ctr">
              <a:lnSpc>
                <a:spcPts val="11050"/>
              </a:lnSpc>
              <a:spcBef>
                <a:spcPct val="0"/>
              </a:spcBef>
            </a:pPr>
            <a:r>
              <a:rPr lang="en-US" sz="7893" b="1" spc="-607">
                <a:solidFill>
                  <a:srgbClr val="000000"/>
                </a:solidFill>
                <a:latin typeface="DM Sans Bold"/>
                <a:ea typeface="DM Sans Bold"/>
                <a:cs typeface="DM Sans Bold"/>
                <a:sym typeface="DM Sans Bold"/>
              </a:rPr>
              <a:t>Abstract</a:t>
            </a:r>
          </a:p>
        </p:txBody>
      </p:sp>
      <p:grpSp>
        <p:nvGrpSpPr>
          <p:cNvPr id="7" name="Group 7"/>
          <p:cNvGrpSpPr/>
          <p:nvPr/>
        </p:nvGrpSpPr>
        <p:grpSpPr>
          <a:xfrm rot="-2700000">
            <a:off x="17325096" y="464665"/>
            <a:ext cx="317690" cy="317690"/>
            <a:chOff x="0" y="0"/>
            <a:chExt cx="83671" cy="83671"/>
          </a:xfrm>
        </p:grpSpPr>
        <p:sp>
          <p:nvSpPr>
            <p:cNvPr id="8" name="Freeform 8"/>
            <p:cNvSpPr/>
            <p:nvPr/>
          </p:nvSpPr>
          <p:spPr>
            <a:xfrm>
              <a:off x="0" y="0"/>
              <a:ext cx="83671" cy="83671"/>
            </a:xfrm>
            <a:custGeom>
              <a:avLst/>
              <a:gdLst/>
              <a:ahLst/>
              <a:cxnLst/>
              <a:rect l="l" t="t" r="r" b="b"/>
              <a:pathLst>
                <a:path w="83671" h="83671">
                  <a:moveTo>
                    <a:pt x="0" y="0"/>
                  </a:moveTo>
                  <a:lnTo>
                    <a:pt x="83671" y="0"/>
                  </a:lnTo>
                  <a:lnTo>
                    <a:pt x="83671" y="83671"/>
                  </a:lnTo>
                  <a:lnTo>
                    <a:pt x="0" y="83671"/>
                  </a:lnTo>
                  <a:close/>
                </a:path>
              </a:pathLst>
            </a:custGeom>
            <a:solidFill>
              <a:srgbClr val="F8BC00"/>
            </a:solidFill>
          </p:spPr>
        </p:sp>
        <p:sp>
          <p:nvSpPr>
            <p:cNvPr id="9" name="TextBox 9"/>
            <p:cNvSpPr txBox="1"/>
            <p:nvPr/>
          </p:nvSpPr>
          <p:spPr>
            <a:xfrm>
              <a:off x="0" y="-38100"/>
              <a:ext cx="83671" cy="121771"/>
            </a:xfrm>
            <a:prstGeom prst="rect">
              <a:avLst/>
            </a:prstGeom>
          </p:spPr>
          <p:txBody>
            <a:bodyPr lIns="50800" tIns="50800" rIns="50800" bIns="50800" rtlCol="0" anchor="ctr"/>
            <a:lstStyle/>
            <a:p>
              <a:pPr algn="ctr">
                <a:lnSpc>
                  <a:spcPts val="2520"/>
                </a:lnSpc>
              </a:pPr>
              <a:endParaRPr/>
            </a:p>
          </p:txBody>
        </p:sp>
      </p:grpSp>
      <p:sp>
        <p:nvSpPr>
          <p:cNvPr id="10" name="Freeform 10"/>
          <p:cNvSpPr/>
          <p:nvPr/>
        </p:nvSpPr>
        <p:spPr>
          <a:xfrm rot="-9309044">
            <a:off x="-1083593" y="-3012809"/>
            <a:ext cx="6260298" cy="8083019"/>
          </a:xfrm>
          <a:custGeom>
            <a:avLst/>
            <a:gdLst/>
            <a:ahLst/>
            <a:cxnLst/>
            <a:rect l="l" t="t" r="r" b="b"/>
            <a:pathLst>
              <a:path w="6260298" h="8083019">
                <a:moveTo>
                  <a:pt x="0" y="0"/>
                </a:moveTo>
                <a:lnTo>
                  <a:pt x="6260298" y="0"/>
                </a:lnTo>
                <a:lnTo>
                  <a:pt x="6260298" y="8083018"/>
                </a:lnTo>
                <a:lnTo>
                  <a:pt x="0" y="808301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1" name="Freeform 11"/>
          <p:cNvSpPr/>
          <p:nvPr/>
        </p:nvSpPr>
        <p:spPr>
          <a:xfrm rot="-10800000" flipH="1">
            <a:off x="-1234376" y="7897596"/>
            <a:ext cx="4909918" cy="2721409"/>
          </a:xfrm>
          <a:custGeom>
            <a:avLst/>
            <a:gdLst/>
            <a:ahLst/>
            <a:cxnLst/>
            <a:rect l="l" t="t" r="r" b="b"/>
            <a:pathLst>
              <a:path w="4909918" h="2721409">
                <a:moveTo>
                  <a:pt x="4909918" y="0"/>
                </a:moveTo>
                <a:lnTo>
                  <a:pt x="0" y="0"/>
                </a:lnTo>
                <a:lnTo>
                  <a:pt x="0" y="2721408"/>
                </a:lnTo>
                <a:lnTo>
                  <a:pt x="4909918" y="2721408"/>
                </a:lnTo>
                <a:lnTo>
                  <a:pt x="4909918"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2" name="TextBox 12"/>
          <p:cNvSpPr txBox="1"/>
          <p:nvPr/>
        </p:nvSpPr>
        <p:spPr>
          <a:xfrm>
            <a:off x="1220583" y="1535841"/>
            <a:ext cx="16038717" cy="1884045"/>
          </a:xfrm>
          <a:prstGeom prst="rect">
            <a:avLst/>
          </a:prstGeom>
        </p:spPr>
        <p:txBody>
          <a:bodyPr lIns="0" tIns="0" rIns="0" bIns="0" rtlCol="0" anchor="t">
            <a:spAutoFit/>
          </a:bodyPr>
          <a:lstStyle/>
          <a:p>
            <a:pPr marL="582927" lvl="1" indent="-291463" algn="just">
              <a:lnSpc>
                <a:spcPts val="3779"/>
              </a:lnSpc>
              <a:buFont typeface="Arial"/>
              <a:buChar char="•"/>
            </a:pPr>
            <a:r>
              <a:rPr lang="en-US" sz="2699" b="1">
                <a:solidFill>
                  <a:srgbClr val="000000"/>
                </a:solidFill>
                <a:latin typeface="DM Sans Bold"/>
                <a:ea typeface="DM Sans Bold"/>
                <a:cs typeface="DM Sans Bold"/>
                <a:sym typeface="DM Sans Bold"/>
              </a:rPr>
              <a:t>Digital Transformation Need :</a:t>
            </a:r>
            <a:r>
              <a:rPr lang="en-US" sz="2699">
                <a:solidFill>
                  <a:srgbClr val="000000"/>
                </a:solidFill>
                <a:latin typeface="DM Sans"/>
                <a:ea typeface="DM Sans"/>
                <a:cs typeface="DM Sans"/>
                <a:sym typeface="DM Sans"/>
              </a:rPr>
              <a:t> Modern insurance operations require faster and more reliable document handling to meet growing customer expectations and regulatory requirements. Traditional manual workflows fail to scale during peak volumes, leading to delays in underwriting and policy issuance.</a:t>
            </a:r>
          </a:p>
        </p:txBody>
      </p:sp>
      <p:sp>
        <p:nvSpPr>
          <p:cNvPr id="13" name="TextBox 13"/>
          <p:cNvSpPr txBox="1"/>
          <p:nvPr/>
        </p:nvSpPr>
        <p:spPr>
          <a:xfrm>
            <a:off x="1220583" y="3701524"/>
            <a:ext cx="16038717" cy="1884045"/>
          </a:xfrm>
          <a:prstGeom prst="rect">
            <a:avLst/>
          </a:prstGeom>
        </p:spPr>
        <p:txBody>
          <a:bodyPr lIns="0" tIns="0" rIns="0" bIns="0" rtlCol="0" anchor="t">
            <a:spAutoFit/>
          </a:bodyPr>
          <a:lstStyle/>
          <a:p>
            <a:pPr marL="582927" lvl="1" indent="-291463" algn="just">
              <a:lnSpc>
                <a:spcPts val="3779"/>
              </a:lnSpc>
              <a:buFont typeface="Arial"/>
              <a:buChar char="•"/>
            </a:pPr>
            <a:r>
              <a:rPr lang="en-US" sz="2699" b="1">
                <a:solidFill>
                  <a:srgbClr val="000000"/>
                </a:solidFill>
                <a:latin typeface="DM Sans Bold"/>
                <a:ea typeface="DM Sans Bold"/>
                <a:cs typeface="DM Sans Bold"/>
                <a:sym typeface="DM Sans Bold"/>
              </a:rPr>
              <a:t>Intelligent Automation Approach : </a:t>
            </a:r>
            <a:r>
              <a:rPr lang="en-US" sz="2699">
                <a:solidFill>
                  <a:srgbClr val="000000"/>
                </a:solidFill>
                <a:latin typeface="DM Sans"/>
                <a:ea typeface="DM Sans"/>
                <a:cs typeface="DM Sans"/>
                <a:sym typeface="DM Sans"/>
              </a:rPr>
              <a:t>This project introduces an AI-driven automation framework that combines OCR, cloud computing, and Generative AI to interpret insurance documents contextually. The system can understand both structured fields and free-text content without manual intervention.</a:t>
            </a:r>
          </a:p>
        </p:txBody>
      </p:sp>
      <p:sp>
        <p:nvSpPr>
          <p:cNvPr id="14" name="TextBox 14"/>
          <p:cNvSpPr txBox="1"/>
          <p:nvPr/>
        </p:nvSpPr>
        <p:spPr>
          <a:xfrm>
            <a:off x="1124641" y="5867208"/>
            <a:ext cx="16038717" cy="2360295"/>
          </a:xfrm>
          <a:prstGeom prst="rect">
            <a:avLst/>
          </a:prstGeom>
        </p:spPr>
        <p:txBody>
          <a:bodyPr lIns="0" tIns="0" rIns="0" bIns="0" rtlCol="0" anchor="t">
            <a:spAutoFit/>
          </a:bodyPr>
          <a:lstStyle/>
          <a:p>
            <a:pPr marL="582927" lvl="1" indent="-291463" algn="just">
              <a:lnSpc>
                <a:spcPts val="3779"/>
              </a:lnSpc>
              <a:buFont typeface="Arial"/>
              <a:buChar char="•"/>
            </a:pPr>
            <a:r>
              <a:rPr lang="en-US" sz="2699" b="1">
                <a:solidFill>
                  <a:srgbClr val="000000"/>
                </a:solidFill>
                <a:latin typeface="DM Sans Bold"/>
                <a:ea typeface="DM Sans Bold"/>
                <a:cs typeface="DM Sans Bold"/>
                <a:sym typeface="DM Sans Bold"/>
              </a:rPr>
              <a:t>End-to-End System Workflow :</a:t>
            </a:r>
            <a:r>
              <a:rPr lang="en-US" sz="2699">
                <a:solidFill>
                  <a:srgbClr val="000000"/>
                </a:solidFill>
                <a:latin typeface="DM Sans"/>
                <a:ea typeface="DM Sans"/>
                <a:cs typeface="DM Sans"/>
                <a:sym typeface="DM Sans"/>
              </a:rPr>
              <a:t> The system operates as a seamless pipeline from document ingestion to structured data output. Using cloud-based services such as Azure for OCR and AI processing, stages like digitization, intelligent extraction, validation, and integration are fully automated for consistency and traceability.</a:t>
            </a:r>
          </a:p>
          <a:p>
            <a:pPr algn="just">
              <a:lnSpc>
                <a:spcPts val="3779"/>
              </a:lnSpc>
            </a:pPr>
            <a:endParaRPr lang="en-US" sz="2699">
              <a:solidFill>
                <a:srgbClr val="000000"/>
              </a:solidFill>
              <a:latin typeface="DM Sans"/>
              <a:ea typeface="DM Sans"/>
              <a:cs typeface="DM Sans"/>
              <a:sym typeface="DM Sans"/>
            </a:endParaRPr>
          </a:p>
        </p:txBody>
      </p:sp>
      <p:sp>
        <p:nvSpPr>
          <p:cNvPr id="15" name="TextBox 15"/>
          <p:cNvSpPr txBox="1"/>
          <p:nvPr/>
        </p:nvSpPr>
        <p:spPr>
          <a:xfrm>
            <a:off x="1124641" y="7926705"/>
            <a:ext cx="16038717" cy="2360295"/>
          </a:xfrm>
          <a:prstGeom prst="rect">
            <a:avLst/>
          </a:prstGeom>
        </p:spPr>
        <p:txBody>
          <a:bodyPr lIns="0" tIns="0" rIns="0" bIns="0" rtlCol="0" anchor="t">
            <a:spAutoFit/>
          </a:bodyPr>
          <a:lstStyle/>
          <a:p>
            <a:pPr marL="582927" lvl="1" indent="-291463" algn="just">
              <a:lnSpc>
                <a:spcPts val="3779"/>
              </a:lnSpc>
              <a:buFont typeface="Arial"/>
              <a:buChar char="•"/>
            </a:pPr>
            <a:r>
              <a:rPr lang="en-US" sz="2699" b="1">
                <a:solidFill>
                  <a:srgbClr val="000000"/>
                </a:solidFill>
                <a:latin typeface="DM Sans Bold"/>
                <a:ea typeface="DM Sans Bold"/>
                <a:cs typeface="DM Sans Bold"/>
                <a:sym typeface="DM Sans Bold"/>
              </a:rPr>
              <a:t>Business and Operational Value :</a:t>
            </a:r>
            <a:r>
              <a:rPr lang="en-US" sz="2699">
                <a:solidFill>
                  <a:srgbClr val="000000"/>
                </a:solidFill>
                <a:latin typeface="DM Sans"/>
                <a:ea typeface="DM Sans"/>
                <a:cs typeface="DM Sans"/>
                <a:sym typeface="DM Sans"/>
              </a:rPr>
              <a:t> By automating document understanding, the system significantly improves turnaround time and reduces dependency on manual labor. This results in faster decision-making, consistent data quality, enhanced customer experience, and improved operational scalability.</a:t>
            </a:r>
          </a:p>
          <a:p>
            <a:pPr algn="just">
              <a:lnSpc>
                <a:spcPts val="3779"/>
              </a:lnSpc>
            </a:pPr>
            <a:endParaRPr lang="en-US" sz="2699">
              <a:solidFill>
                <a:srgbClr val="000000"/>
              </a:solidFill>
              <a:latin typeface="DM Sans"/>
              <a:ea typeface="DM Sans"/>
              <a:cs typeface="DM Sans"/>
              <a:sym typeface="DM Sa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0800000">
            <a:off x="14012579" y="8227503"/>
            <a:ext cx="4909918" cy="2721409"/>
          </a:xfrm>
          <a:custGeom>
            <a:avLst/>
            <a:gdLst/>
            <a:ahLst/>
            <a:cxnLst/>
            <a:rect l="l" t="t" r="r" b="b"/>
            <a:pathLst>
              <a:path w="4909918" h="2721409">
                <a:moveTo>
                  <a:pt x="0" y="0"/>
                </a:moveTo>
                <a:lnTo>
                  <a:pt x="4909918" y="0"/>
                </a:lnTo>
                <a:lnTo>
                  <a:pt x="4909918" y="2721409"/>
                </a:lnTo>
                <a:lnTo>
                  <a:pt x="0" y="27214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rot="-2700000">
            <a:off x="180118" y="8293299"/>
            <a:ext cx="317690" cy="317690"/>
            <a:chOff x="0" y="0"/>
            <a:chExt cx="83671" cy="83671"/>
          </a:xfrm>
        </p:grpSpPr>
        <p:sp>
          <p:nvSpPr>
            <p:cNvPr id="4" name="Freeform 4"/>
            <p:cNvSpPr/>
            <p:nvPr/>
          </p:nvSpPr>
          <p:spPr>
            <a:xfrm>
              <a:off x="0" y="0"/>
              <a:ext cx="83671" cy="83671"/>
            </a:xfrm>
            <a:custGeom>
              <a:avLst/>
              <a:gdLst/>
              <a:ahLst/>
              <a:cxnLst/>
              <a:rect l="l" t="t" r="r" b="b"/>
              <a:pathLst>
                <a:path w="83671" h="83671">
                  <a:moveTo>
                    <a:pt x="0" y="0"/>
                  </a:moveTo>
                  <a:lnTo>
                    <a:pt x="83671" y="0"/>
                  </a:lnTo>
                  <a:lnTo>
                    <a:pt x="83671" y="83671"/>
                  </a:lnTo>
                  <a:lnTo>
                    <a:pt x="0" y="83671"/>
                  </a:lnTo>
                  <a:close/>
                </a:path>
              </a:pathLst>
            </a:custGeom>
            <a:solidFill>
              <a:srgbClr val="F8BC00"/>
            </a:solidFill>
          </p:spPr>
        </p:sp>
        <p:sp>
          <p:nvSpPr>
            <p:cNvPr id="5" name="TextBox 5"/>
            <p:cNvSpPr txBox="1"/>
            <p:nvPr/>
          </p:nvSpPr>
          <p:spPr>
            <a:xfrm>
              <a:off x="0" y="-38100"/>
              <a:ext cx="83671" cy="121771"/>
            </a:xfrm>
            <a:prstGeom prst="rect">
              <a:avLst/>
            </a:prstGeom>
          </p:spPr>
          <p:txBody>
            <a:bodyPr lIns="50800" tIns="50800" rIns="50800" bIns="50800" rtlCol="0" anchor="ctr"/>
            <a:lstStyle/>
            <a:p>
              <a:pPr algn="ctr">
                <a:lnSpc>
                  <a:spcPts val="2520"/>
                </a:lnSpc>
              </a:pPr>
              <a:endParaRPr/>
            </a:p>
          </p:txBody>
        </p:sp>
      </p:grpSp>
      <p:sp>
        <p:nvSpPr>
          <p:cNvPr id="6" name="TextBox 6"/>
          <p:cNvSpPr txBox="1"/>
          <p:nvPr/>
        </p:nvSpPr>
        <p:spPr>
          <a:xfrm>
            <a:off x="-221428" y="97175"/>
            <a:ext cx="11383447" cy="1349551"/>
          </a:xfrm>
          <a:prstGeom prst="rect">
            <a:avLst/>
          </a:prstGeom>
        </p:spPr>
        <p:txBody>
          <a:bodyPr lIns="0" tIns="0" rIns="0" bIns="0" rtlCol="0" anchor="t">
            <a:spAutoFit/>
          </a:bodyPr>
          <a:lstStyle/>
          <a:p>
            <a:pPr algn="ctr">
              <a:lnSpc>
                <a:spcPts val="11050"/>
              </a:lnSpc>
              <a:spcBef>
                <a:spcPct val="0"/>
              </a:spcBef>
            </a:pPr>
            <a:r>
              <a:rPr lang="en-US" sz="7893" b="1" spc="-607">
                <a:solidFill>
                  <a:srgbClr val="000000"/>
                </a:solidFill>
                <a:latin typeface="DM Sans Bold"/>
                <a:ea typeface="DM Sans Bold"/>
                <a:cs typeface="DM Sans Bold"/>
                <a:sym typeface="DM Sans Bold"/>
              </a:rPr>
              <a:t>Proposed System</a:t>
            </a:r>
          </a:p>
        </p:txBody>
      </p:sp>
      <p:grpSp>
        <p:nvGrpSpPr>
          <p:cNvPr id="7" name="Group 7"/>
          <p:cNvGrpSpPr/>
          <p:nvPr/>
        </p:nvGrpSpPr>
        <p:grpSpPr>
          <a:xfrm rot="-2700000">
            <a:off x="17325096" y="464665"/>
            <a:ext cx="317690" cy="317690"/>
            <a:chOff x="0" y="0"/>
            <a:chExt cx="83671" cy="83671"/>
          </a:xfrm>
        </p:grpSpPr>
        <p:sp>
          <p:nvSpPr>
            <p:cNvPr id="8" name="Freeform 8"/>
            <p:cNvSpPr/>
            <p:nvPr/>
          </p:nvSpPr>
          <p:spPr>
            <a:xfrm>
              <a:off x="0" y="0"/>
              <a:ext cx="83671" cy="83671"/>
            </a:xfrm>
            <a:custGeom>
              <a:avLst/>
              <a:gdLst/>
              <a:ahLst/>
              <a:cxnLst/>
              <a:rect l="l" t="t" r="r" b="b"/>
              <a:pathLst>
                <a:path w="83671" h="83671">
                  <a:moveTo>
                    <a:pt x="0" y="0"/>
                  </a:moveTo>
                  <a:lnTo>
                    <a:pt x="83671" y="0"/>
                  </a:lnTo>
                  <a:lnTo>
                    <a:pt x="83671" y="83671"/>
                  </a:lnTo>
                  <a:lnTo>
                    <a:pt x="0" y="83671"/>
                  </a:lnTo>
                  <a:close/>
                </a:path>
              </a:pathLst>
            </a:custGeom>
            <a:solidFill>
              <a:srgbClr val="F8BC00"/>
            </a:solidFill>
          </p:spPr>
        </p:sp>
        <p:sp>
          <p:nvSpPr>
            <p:cNvPr id="9" name="TextBox 9"/>
            <p:cNvSpPr txBox="1"/>
            <p:nvPr/>
          </p:nvSpPr>
          <p:spPr>
            <a:xfrm>
              <a:off x="0" y="-38100"/>
              <a:ext cx="83671" cy="121771"/>
            </a:xfrm>
            <a:prstGeom prst="rect">
              <a:avLst/>
            </a:prstGeom>
          </p:spPr>
          <p:txBody>
            <a:bodyPr lIns="50800" tIns="50800" rIns="50800" bIns="50800" rtlCol="0" anchor="ctr"/>
            <a:lstStyle/>
            <a:p>
              <a:pPr algn="ctr">
                <a:lnSpc>
                  <a:spcPts val="2520"/>
                </a:lnSpc>
              </a:pPr>
              <a:endParaRPr/>
            </a:p>
          </p:txBody>
        </p:sp>
      </p:grpSp>
      <p:sp>
        <p:nvSpPr>
          <p:cNvPr id="10" name="Freeform 10"/>
          <p:cNvSpPr/>
          <p:nvPr/>
        </p:nvSpPr>
        <p:spPr>
          <a:xfrm rot="-9309044">
            <a:off x="-1083593" y="-3012809"/>
            <a:ext cx="6260298" cy="8083019"/>
          </a:xfrm>
          <a:custGeom>
            <a:avLst/>
            <a:gdLst/>
            <a:ahLst/>
            <a:cxnLst/>
            <a:rect l="l" t="t" r="r" b="b"/>
            <a:pathLst>
              <a:path w="6260298" h="8083019">
                <a:moveTo>
                  <a:pt x="0" y="0"/>
                </a:moveTo>
                <a:lnTo>
                  <a:pt x="6260298" y="0"/>
                </a:lnTo>
                <a:lnTo>
                  <a:pt x="6260298" y="8083018"/>
                </a:lnTo>
                <a:lnTo>
                  <a:pt x="0" y="808301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1" name="Freeform 11"/>
          <p:cNvSpPr/>
          <p:nvPr/>
        </p:nvSpPr>
        <p:spPr>
          <a:xfrm rot="-10800000" flipH="1">
            <a:off x="-1234376" y="7897596"/>
            <a:ext cx="4909918" cy="2721409"/>
          </a:xfrm>
          <a:custGeom>
            <a:avLst/>
            <a:gdLst/>
            <a:ahLst/>
            <a:cxnLst/>
            <a:rect l="l" t="t" r="r" b="b"/>
            <a:pathLst>
              <a:path w="4909918" h="2721409">
                <a:moveTo>
                  <a:pt x="4909918" y="0"/>
                </a:moveTo>
                <a:lnTo>
                  <a:pt x="0" y="0"/>
                </a:lnTo>
                <a:lnTo>
                  <a:pt x="0" y="2721408"/>
                </a:lnTo>
                <a:lnTo>
                  <a:pt x="4909918" y="2721408"/>
                </a:lnTo>
                <a:lnTo>
                  <a:pt x="4909918"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2" name="TextBox 12"/>
          <p:cNvSpPr txBox="1"/>
          <p:nvPr/>
        </p:nvSpPr>
        <p:spPr>
          <a:xfrm>
            <a:off x="1220583" y="1535841"/>
            <a:ext cx="16038717" cy="1884045"/>
          </a:xfrm>
          <a:prstGeom prst="rect">
            <a:avLst/>
          </a:prstGeom>
        </p:spPr>
        <p:txBody>
          <a:bodyPr lIns="0" tIns="0" rIns="0" bIns="0" rtlCol="0" anchor="t">
            <a:spAutoFit/>
          </a:bodyPr>
          <a:lstStyle/>
          <a:p>
            <a:pPr marL="582927" lvl="1" indent="-291463" algn="just">
              <a:lnSpc>
                <a:spcPts val="3779"/>
              </a:lnSpc>
              <a:buFont typeface="Arial"/>
              <a:buChar char="•"/>
            </a:pPr>
            <a:r>
              <a:rPr lang="en-US" sz="2699" b="1">
                <a:solidFill>
                  <a:srgbClr val="000000"/>
                </a:solidFill>
                <a:latin typeface="DM Sans Bold"/>
                <a:ea typeface="DM Sans Bold"/>
                <a:cs typeface="DM Sans Bold"/>
                <a:sym typeface="DM Sans Bold"/>
              </a:rPr>
              <a:t>System Overview :</a:t>
            </a:r>
            <a:r>
              <a:rPr lang="en-US" sz="2699">
                <a:solidFill>
                  <a:srgbClr val="000000"/>
                </a:solidFill>
                <a:latin typeface="DM Sans"/>
                <a:ea typeface="DM Sans"/>
                <a:cs typeface="DM Sans"/>
                <a:sym typeface="DM Sans"/>
              </a:rPr>
              <a:t> The proposed system is a cloud-native, end-to-end automation solution designed to replace manual and error-prone insurance application processing. It intelligently converts unstructured insurance documents into structured, actionable data using AI-driven techniques.</a:t>
            </a:r>
          </a:p>
        </p:txBody>
      </p:sp>
      <p:sp>
        <p:nvSpPr>
          <p:cNvPr id="13" name="TextBox 13"/>
          <p:cNvSpPr txBox="1"/>
          <p:nvPr/>
        </p:nvSpPr>
        <p:spPr>
          <a:xfrm>
            <a:off x="1220583" y="3701524"/>
            <a:ext cx="16038717" cy="1884045"/>
          </a:xfrm>
          <a:prstGeom prst="rect">
            <a:avLst/>
          </a:prstGeom>
        </p:spPr>
        <p:txBody>
          <a:bodyPr lIns="0" tIns="0" rIns="0" bIns="0" rtlCol="0" anchor="t">
            <a:spAutoFit/>
          </a:bodyPr>
          <a:lstStyle/>
          <a:p>
            <a:pPr marL="582927" lvl="1" indent="-291463" algn="just">
              <a:lnSpc>
                <a:spcPts val="3779"/>
              </a:lnSpc>
              <a:buFont typeface="Arial"/>
              <a:buChar char="•"/>
            </a:pPr>
            <a:r>
              <a:rPr lang="en-US" sz="2699" b="1">
                <a:solidFill>
                  <a:srgbClr val="000000"/>
                </a:solidFill>
                <a:latin typeface="DM Sans Bold"/>
                <a:ea typeface="DM Sans Bold"/>
                <a:cs typeface="DM Sans Bold"/>
                <a:sym typeface="DM Sans Bold"/>
              </a:rPr>
              <a:t>Modular and Scalable Architecture : </a:t>
            </a:r>
            <a:r>
              <a:rPr lang="en-US" sz="2699">
                <a:solidFill>
                  <a:srgbClr val="000000"/>
                </a:solidFill>
                <a:latin typeface="DM Sans"/>
                <a:ea typeface="DM Sans"/>
                <a:cs typeface="DM Sans"/>
                <a:sym typeface="DM Sans"/>
              </a:rPr>
              <a:t>The system follows a modular architecture with distinct layers for input handling, OCR processing, GenAI intelligence, validation, integration, and presentation. This layered design ensures scalability, reliability, easy maintenance, and seamless system expansion.</a:t>
            </a:r>
          </a:p>
        </p:txBody>
      </p:sp>
      <p:sp>
        <p:nvSpPr>
          <p:cNvPr id="14" name="TextBox 14"/>
          <p:cNvSpPr txBox="1"/>
          <p:nvPr/>
        </p:nvSpPr>
        <p:spPr>
          <a:xfrm>
            <a:off x="1124641" y="5867208"/>
            <a:ext cx="16038717" cy="2360295"/>
          </a:xfrm>
          <a:prstGeom prst="rect">
            <a:avLst/>
          </a:prstGeom>
        </p:spPr>
        <p:txBody>
          <a:bodyPr lIns="0" tIns="0" rIns="0" bIns="0" rtlCol="0" anchor="t">
            <a:spAutoFit/>
          </a:bodyPr>
          <a:lstStyle/>
          <a:p>
            <a:pPr marL="582927" lvl="1" indent="-291463" algn="just">
              <a:lnSpc>
                <a:spcPts val="3779"/>
              </a:lnSpc>
              <a:buFont typeface="Arial"/>
              <a:buChar char="•"/>
            </a:pPr>
            <a:r>
              <a:rPr lang="en-US" sz="2699" b="1">
                <a:solidFill>
                  <a:srgbClr val="000000"/>
                </a:solidFill>
                <a:latin typeface="DM Sans Bold"/>
                <a:ea typeface="DM Sans Bold"/>
                <a:cs typeface="DM Sans Bold"/>
                <a:sym typeface="DM Sans Bold"/>
              </a:rPr>
              <a:t>Intelligent Processing and Automation :</a:t>
            </a:r>
            <a:r>
              <a:rPr lang="en-US" sz="2699">
                <a:solidFill>
                  <a:srgbClr val="000000"/>
                </a:solidFill>
                <a:latin typeface="DM Sans"/>
                <a:ea typeface="DM Sans"/>
                <a:cs typeface="DM Sans"/>
                <a:sym typeface="DM Sans"/>
              </a:rPr>
              <a:t> Insurance applications from multiple sources are digitized using OCR and analyzed using Generative AI to extract applicant, medical, and policy information. The extracted data is validated, mapped to predefined schemas, and prepared for automated system integration.</a:t>
            </a:r>
          </a:p>
          <a:p>
            <a:pPr algn="just">
              <a:lnSpc>
                <a:spcPts val="3779"/>
              </a:lnSpc>
            </a:pPr>
            <a:endParaRPr lang="en-US" sz="2699">
              <a:solidFill>
                <a:srgbClr val="000000"/>
              </a:solidFill>
              <a:latin typeface="DM Sans"/>
              <a:ea typeface="DM Sans"/>
              <a:cs typeface="DM Sans"/>
              <a:sym typeface="DM Sans"/>
            </a:endParaRPr>
          </a:p>
        </p:txBody>
      </p:sp>
      <p:sp>
        <p:nvSpPr>
          <p:cNvPr id="15" name="TextBox 15"/>
          <p:cNvSpPr txBox="1"/>
          <p:nvPr/>
        </p:nvSpPr>
        <p:spPr>
          <a:xfrm>
            <a:off x="1124641" y="7926705"/>
            <a:ext cx="16038717" cy="2360295"/>
          </a:xfrm>
          <a:prstGeom prst="rect">
            <a:avLst/>
          </a:prstGeom>
        </p:spPr>
        <p:txBody>
          <a:bodyPr lIns="0" tIns="0" rIns="0" bIns="0" rtlCol="0" anchor="t">
            <a:spAutoFit/>
          </a:bodyPr>
          <a:lstStyle/>
          <a:p>
            <a:pPr marL="582927" lvl="1" indent="-291463" algn="just">
              <a:lnSpc>
                <a:spcPts val="3779"/>
              </a:lnSpc>
              <a:buFont typeface="Arial"/>
              <a:buChar char="•"/>
            </a:pPr>
            <a:r>
              <a:rPr lang="en-US" sz="2699" b="1">
                <a:solidFill>
                  <a:srgbClr val="000000"/>
                </a:solidFill>
                <a:latin typeface="DM Sans Bold"/>
                <a:ea typeface="DM Sans Bold"/>
                <a:cs typeface="DM Sans Bold"/>
                <a:sym typeface="DM Sans Bold"/>
              </a:rPr>
              <a:t>Integration, Monitoring, and Benefits :</a:t>
            </a:r>
            <a:r>
              <a:rPr lang="en-US" sz="2699">
                <a:solidFill>
                  <a:srgbClr val="000000"/>
                </a:solidFill>
                <a:latin typeface="DM Sans"/>
                <a:ea typeface="DM Sans"/>
                <a:cs typeface="DM Sans"/>
                <a:sym typeface="DM Sans"/>
              </a:rPr>
              <a:t> Validated structured data is automatically posted to insurance management systems through secure APIs, while dashboards provide real-time monitoring and quality checks. The system improves operational efficiency, data accuracy, scalability, and compliance while reducing cost and manual effort.</a:t>
            </a:r>
          </a:p>
          <a:p>
            <a:pPr algn="just">
              <a:lnSpc>
                <a:spcPts val="3779"/>
              </a:lnSpc>
            </a:pPr>
            <a:endParaRPr lang="en-US" sz="2699">
              <a:solidFill>
                <a:srgbClr val="000000"/>
              </a:solidFill>
              <a:latin typeface="DM Sans"/>
              <a:ea typeface="DM Sans"/>
              <a:cs typeface="DM Sans"/>
              <a:sym typeface="DM Sa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0800000">
            <a:off x="14012579" y="8227503"/>
            <a:ext cx="4909918" cy="2721409"/>
          </a:xfrm>
          <a:custGeom>
            <a:avLst/>
            <a:gdLst/>
            <a:ahLst/>
            <a:cxnLst/>
            <a:rect l="l" t="t" r="r" b="b"/>
            <a:pathLst>
              <a:path w="4909918" h="2721409">
                <a:moveTo>
                  <a:pt x="0" y="0"/>
                </a:moveTo>
                <a:lnTo>
                  <a:pt x="4909918" y="0"/>
                </a:lnTo>
                <a:lnTo>
                  <a:pt x="4909918" y="2721409"/>
                </a:lnTo>
                <a:lnTo>
                  <a:pt x="0" y="27214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rot="-2700000">
            <a:off x="180118" y="8293299"/>
            <a:ext cx="317690" cy="317690"/>
            <a:chOff x="0" y="0"/>
            <a:chExt cx="83671" cy="83671"/>
          </a:xfrm>
        </p:grpSpPr>
        <p:sp>
          <p:nvSpPr>
            <p:cNvPr id="4" name="Freeform 4"/>
            <p:cNvSpPr/>
            <p:nvPr/>
          </p:nvSpPr>
          <p:spPr>
            <a:xfrm>
              <a:off x="0" y="0"/>
              <a:ext cx="83671" cy="83671"/>
            </a:xfrm>
            <a:custGeom>
              <a:avLst/>
              <a:gdLst/>
              <a:ahLst/>
              <a:cxnLst/>
              <a:rect l="l" t="t" r="r" b="b"/>
              <a:pathLst>
                <a:path w="83671" h="83671">
                  <a:moveTo>
                    <a:pt x="0" y="0"/>
                  </a:moveTo>
                  <a:lnTo>
                    <a:pt x="83671" y="0"/>
                  </a:lnTo>
                  <a:lnTo>
                    <a:pt x="83671" y="83671"/>
                  </a:lnTo>
                  <a:lnTo>
                    <a:pt x="0" y="83671"/>
                  </a:lnTo>
                  <a:close/>
                </a:path>
              </a:pathLst>
            </a:custGeom>
            <a:solidFill>
              <a:srgbClr val="F8BC00"/>
            </a:solidFill>
          </p:spPr>
        </p:sp>
        <p:sp>
          <p:nvSpPr>
            <p:cNvPr id="5" name="TextBox 5"/>
            <p:cNvSpPr txBox="1"/>
            <p:nvPr/>
          </p:nvSpPr>
          <p:spPr>
            <a:xfrm>
              <a:off x="0" y="-38100"/>
              <a:ext cx="83671" cy="121771"/>
            </a:xfrm>
            <a:prstGeom prst="rect">
              <a:avLst/>
            </a:prstGeom>
          </p:spPr>
          <p:txBody>
            <a:bodyPr lIns="50800" tIns="50800" rIns="50800" bIns="50800" rtlCol="0" anchor="ctr"/>
            <a:lstStyle/>
            <a:p>
              <a:pPr algn="ctr">
                <a:lnSpc>
                  <a:spcPts val="2520"/>
                </a:lnSpc>
              </a:pPr>
              <a:endParaRPr/>
            </a:p>
          </p:txBody>
        </p:sp>
      </p:grpSp>
      <p:sp>
        <p:nvSpPr>
          <p:cNvPr id="6" name="TextBox 6"/>
          <p:cNvSpPr txBox="1"/>
          <p:nvPr/>
        </p:nvSpPr>
        <p:spPr>
          <a:xfrm>
            <a:off x="-221428" y="97175"/>
            <a:ext cx="11383447" cy="1349551"/>
          </a:xfrm>
          <a:prstGeom prst="rect">
            <a:avLst/>
          </a:prstGeom>
        </p:spPr>
        <p:txBody>
          <a:bodyPr lIns="0" tIns="0" rIns="0" bIns="0" rtlCol="0" anchor="t">
            <a:spAutoFit/>
          </a:bodyPr>
          <a:lstStyle/>
          <a:p>
            <a:pPr algn="ctr">
              <a:lnSpc>
                <a:spcPts val="11050"/>
              </a:lnSpc>
              <a:spcBef>
                <a:spcPct val="0"/>
              </a:spcBef>
            </a:pPr>
            <a:r>
              <a:rPr lang="en-US" sz="7893" b="1" spc="-607">
                <a:solidFill>
                  <a:srgbClr val="000000"/>
                </a:solidFill>
                <a:latin typeface="DM Sans Bold"/>
                <a:ea typeface="DM Sans Bold"/>
                <a:cs typeface="DM Sans Bold"/>
                <a:sym typeface="DM Sans Bold"/>
              </a:rPr>
              <a:t>Proposed System</a:t>
            </a:r>
          </a:p>
        </p:txBody>
      </p:sp>
      <p:grpSp>
        <p:nvGrpSpPr>
          <p:cNvPr id="7" name="Group 7"/>
          <p:cNvGrpSpPr/>
          <p:nvPr/>
        </p:nvGrpSpPr>
        <p:grpSpPr>
          <a:xfrm rot="-2700000">
            <a:off x="17325096" y="464665"/>
            <a:ext cx="317690" cy="317690"/>
            <a:chOff x="0" y="0"/>
            <a:chExt cx="83671" cy="83671"/>
          </a:xfrm>
        </p:grpSpPr>
        <p:sp>
          <p:nvSpPr>
            <p:cNvPr id="8" name="Freeform 8"/>
            <p:cNvSpPr/>
            <p:nvPr/>
          </p:nvSpPr>
          <p:spPr>
            <a:xfrm>
              <a:off x="0" y="0"/>
              <a:ext cx="83671" cy="83671"/>
            </a:xfrm>
            <a:custGeom>
              <a:avLst/>
              <a:gdLst/>
              <a:ahLst/>
              <a:cxnLst/>
              <a:rect l="l" t="t" r="r" b="b"/>
              <a:pathLst>
                <a:path w="83671" h="83671">
                  <a:moveTo>
                    <a:pt x="0" y="0"/>
                  </a:moveTo>
                  <a:lnTo>
                    <a:pt x="83671" y="0"/>
                  </a:lnTo>
                  <a:lnTo>
                    <a:pt x="83671" y="83671"/>
                  </a:lnTo>
                  <a:lnTo>
                    <a:pt x="0" y="83671"/>
                  </a:lnTo>
                  <a:close/>
                </a:path>
              </a:pathLst>
            </a:custGeom>
            <a:solidFill>
              <a:srgbClr val="F8BC00"/>
            </a:solidFill>
          </p:spPr>
        </p:sp>
        <p:sp>
          <p:nvSpPr>
            <p:cNvPr id="9" name="TextBox 9"/>
            <p:cNvSpPr txBox="1"/>
            <p:nvPr/>
          </p:nvSpPr>
          <p:spPr>
            <a:xfrm>
              <a:off x="0" y="-38100"/>
              <a:ext cx="83671" cy="121771"/>
            </a:xfrm>
            <a:prstGeom prst="rect">
              <a:avLst/>
            </a:prstGeom>
          </p:spPr>
          <p:txBody>
            <a:bodyPr lIns="50800" tIns="50800" rIns="50800" bIns="50800" rtlCol="0" anchor="ctr"/>
            <a:lstStyle/>
            <a:p>
              <a:pPr algn="ctr">
                <a:lnSpc>
                  <a:spcPts val="2520"/>
                </a:lnSpc>
              </a:pPr>
              <a:endParaRPr/>
            </a:p>
          </p:txBody>
        </p:sp>
      </p:grpSp>
      <p:sp>
        <p:nvSpPr>
          <p:cNvPr id="10" name="Freeform 10"/>
          <p:cNvSpPr/>
          <p:nvPr/>
        </p:nvSpPr>
        <p:spPr>
          <a:xfrm rot="-9309044">
            <a:off x="-1083593" y="-3012809"/>
            <a:ext cx="6260298" cy="8083019"/>
          </a:xfrm>
          <a:custGeom>
            <a:avLst/>
            <a:gdLst/>
            <a:ahLst/>
            <a:cxnLst/>
            <a:rect l="l" t="t" r="r" b="b"/>
            <a:pathLst>
              <a:path w="6260298" h="8083019">
                <a:moveTo>
                  <a:pt x="0" y="0"/>
                </a:moveTo>
                <a:lnTo>
                  <a:pt x="6260298" y="0"/>
                </a:lnTo>
                <a:lnTo>
                  <a:pt x="6260298" y="8083018"/>
                </a:lnTo>
                <a:lnTo>
                  <a:pt x="0" y="808301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1" name="Freeform 11"/>
          <p:cNvSpPr/>
          <p:nvPr/>
        </p:nvSpPr>
        <p:spPr>
          <a:xfrm rot="-10800000" flipH="1">
            <a:off x="-1234376" y="7897596"/>
            <a:ext cx="4909918" cy="2721409"/>
          </a:xfrm>
          <a:custGeom>
            <a:avLst/>
            <a:gdLst/>
            <a:ahLst/>
            <a:cxnLst/>
            <a:rect l="l" t="t" r="r" b="b"/>
            <a:pathLst>
              <a:path w="4909918" h="2721409">
                <a:moveTo>
                  <a:pt x="4909918" y="0"/>
                </a:moveTo>
                <a:lnTo>
                  <a:pt x="0" y="0"/>
                </a:lnTo>
                <a:lnTo>
                  <a:pt x="0" y="2721408"/>
                </a:lnTo>
                <a:lnTo>
                  <a:pt x="4909918" y="2721408"/>
                </a:lnTo>
                <a:lnTo>
                  <a:pt x="4909918"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2" name="Freeform 12"/>
          <p:cNvSpPr/>
          <p:nvPr/>
        </p:nvSpPr>
        <p:spPr>
          <a:xfrm>
            <a:off x="3487612" y="1413628"/>
            <a:ext cx="10726200" cy="9535284"/>
          </a:xfrm>
          <a:custGeom>
            <a:avLst/>
            <a:gdLst/>
            <a:ahLst/>
            <a:cxnLst/>
            <a:rect l="l" t="t" r="r" b="b"/>
            <a:pathLst>
              <a:path w="10726200" h="9535284">
                <a:moveTo>
                  <a:pt x="0" y="0"/>
                </a:moveTo>
                <a:lnTo>
                  <a:pt x="10726200" y="0"/>
                </a:lnTo>
                <a:lnTo>
                  <a:pt x="10726200" y="9535284"/>
                </a:lnTo>
                <a:lnTo>
                  <a:pt x="0" y="9535284"/>
                </a:lnTo>
                <a:lnTo>
                  <a:pt x="0" y="0"/>
                </a:lnTo>
                <a:close/>
              </a:path>
            </a:pathLst>
          </a:custGeom>
          <a:blipFill>
            <a:blip r:embed="rId6"/>
            <a:stretch>
              <a:fillRect t="-12489"/>
            </a:stretch>
          </a:blipFill>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0800000">
            <a:off x="14012579" y="8227503"/>
            <a:ext cx="4909918" cy="2721409"/>
          </a:xfrm>
          <a:custGeom>
            <a:avLst/>
            <a:gdLst/>
            <a:ahLst/>
            <a:cxnLst/>
            <a:rect l="l" t="t" r="r" b="b"/>
            <a:pathLst>
              <a:path w="4909918" h="2721409">
                <a:moveTo>
                  <a:pt x="0" y="0"/>
                </a:moveTo>
                <a:lnTo>
                  <a:pt x="4909918" y="0"/>
                </a:lnTo>
                <a:lnTo>
                  <a:pt x="4909918" y="2721409"/>
                </a:lnTo>
                <a:lnTo>
                  <a:pt x="0" y="27214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rot="-2700000">
            <a:off x="180118" y="8293299"/>
            <a:ext cx="317690" cy="317690"/>
            <a:chOff x="0" y="0"/>
            <a:chExt cx="83671" cy="83671"/>
          </a:xfrm>
        </p:grpSpPr>
        <p:sp>
          <p:nvSpPr>
            <p:cNvPr id="4" name="Freeform 4"/>
            <p:cNvSpPr/>
            <p:nvPr/>
          </p:nvSpPr>
          <p:spPr>
            <a:xfrm>
              <a:off x="0" y="0"/>
              <a:ext cx="83671" cy="83671"/>
            </a:xfrm>
            <a:custGeom>
              <a:avLst/>
              <a:gdLst/>
              <a:ahLst/>
              <a:cxnLst/>
              <a:rect l="l" t="t" r="r" b="b"/>
              <a:pathLst>
                <a:path w="83671" h="83671">
                  <a:moveTo>
                    <a:pt x="0" y="0"/>
                  </a:moveTo>
                  <a:lnTo>
                    <a:pt x="83671" y="0"/>
                  </a:lnTo>
                  <a:lnTo>
                    <a:pt x="83671" y="83671"/>
                  </a:lnTo>
                  <a:lnTo>
                    <a:pt x="0" y="83671"/>
                  </a:lnTo>
                  <a:close/>
                </a:path>
              </a:pathLst>
            </a:custGeom>
            <a:solidFill>
              <a:srgbClr val="F8BC00"/>
            </a:solidFill>
          </p:spPr>
        </p:sp>
        <p:sp>
          <p:nvSpPr>
            <p:cNvPr id="5" name="TextBox 5"/>
            <p:cNvSpPr txBox="1"/>
            <p:nvPr/>
          </p:nvSpPr>
          <p:spPr>
            <a:xfrm>
              <a:off x="0" y="-38100"/>
              <a:ext cx="83671" cy="121771"/>
            </a:xfrm>
            <a:prstGeom prst="rect">
              <a:avLst/>
            </a:prstGeom>
          </p:spPr>
          <p:txBody>
            <a:bodyPr lIns="50800" tIns="50800" rIns="50800" bIns="50800" rtlCol="0" anchor="ctr"/>
            <a:lstStyle/>
            <a:p>
              <a:pPr algn="ctr">
                <a:lnSpc>
                  <a:spcPts val="2520"/>
                </a:lnSpc>
              </a:pPr>
              <a:endParaRPr/>
            </a:p>
          </p:txBody>
        </p:sp>
      </p:grpSp>
      <p:sp>
        <p:nvSpPr>
          <p:cNvPr id="6" name="TextBox 6"/>
          <p:cNvSpPr txBox="1"/>
          <p:nvPr/>
        </p:nvSpPr>
        <p:spPr>
          <a:xfrm>
            <a:off x="-440100" y="4183392"/>
            <a:ext cx="6486562" cy="2747193"/>
          </a:xfrm>
          <a:prstGeom prst="rect">
            <a:avLst/>
          </a:prstGeom>
        </p:spPr>
        <p:txBody>
          <a:bodyPr lIns="0" tIns="0" rIns="0" bIns="0" rtlCol="0" anchor="t">
            <a:spAutoFit/>
          </a:bodyPr>
          <a:lstStyle/>
          <a:p>
            <a:pPr algn="ctr">
              <a:lnSpc>
                <a:spcPts val="11050"/>
              </a:lnSpc>
              <a:spcBef>
                <a:spcPct val="0"/>
              </a:spcBef>
            </a:pPr>
            <a:r>
              <a:rPr lang="en-US" sz="7893" b="1" spc="-607">
                <a:solidFill>
                  <a:srgbClr val="000000"/>
                </a:solidFill>
                <a:latin typeface="DM Sans Bold"/>
                <a:ea typeface="DM Sans Bold"/>
                <a:cs typeface="DM Sans Bold"/>
                <a:sym typeface="DM Sans Bold"/>
              </a:rPr>
              <a:t>Gantt chart </a:t>
            </a:r>
          </a:p>
          <a:p>
            <a:pPr algn="ctr">
              <a:lnSpc>
                <a:spcPts val="11050"/>
              </a:lnSpc>
              <a:spcBef>
                <a:spcPct val="0"/>
              </a:spcBef>
            </a:pPr>
            <a:endParaRPr lang="en-US" sz="7893" b="1" spc="-607">
              <a:solidFill>
                <a:srgbClr val="000000"/>
              </a:solidFill>
              <a:latin typeface="DM Sans Bold"/>
              <a:ea typeface="DM Sans Bold"/>
              <a:cs typeface="DM Sans Bold"/>
              <a:sym typeface="DM Sans Bold"/>
            </a:endParaRPr>
          </a:p>
        </p:txBody>
      </p:sp>
      <p:grpSp>
        <p:nvGrpSpPr>
          <p:cNvPr id="7" name="Group 7"/>
          <p:cNvGrpSpPr/>
          <p:nvPr/>
        </p:nvGrpSpPr>
        <p:grpSpPr>
          <a:xfrm rot="-2700000">
            <a:off x="17325096" y="464665"/>
            <a:ext cx="317690" cy="317690"/>
            <a:chOff x="0" y="0"/>
            <a:chExt cx="83671" cy="83671"/>
          </a:xfrm>
        </p:grpSpPr>
        <p:sp>
          <p:nvSpPr>
            <p:cNvPr id="8" name="Freeform 8"/>
            <p:cNvSpPr/>
            <p:nvPr/>
          </p:nvSpPr>
          <p:spPr>
            <a:xfrm>
              <a:off x="0" y="0"/>
              <a:ext cx="83671" cy="83671"/>
            </a:xfrm>
            <a:custGeom>
              <a:avLst/>
              <a:gdLst/>
              <a:ahLst/>
              <a:cxnLst/>
              <a:rect l="l" t="t" r="r" b="b"/>
              <a:pathLst>
                <a:path w="83671" h="83671">
                  <a:moveTo>
                    <a:pt x="0" y="0"/>
                  </a:moveTo>
                  <a:lnTo>
                    <a:pt x="83671" y="0"/>
                  </a:lnTo>
                  <a:lnTo>
                    <a:pt x="83671" y="83671"/>
                  </a:lnTo>
                  <a:lnTo>
                    <a:pt x="0" y="83671"/>
                  </a:lnTo>
                  <a:close/>
                </a:path>
              </a:pathLst>
            </a:custGeom>
            <a:solidFill>
              <a:srgbClr val="F8BC00"/>
            </a:solidFill>
          </p:spPr>
        </p:sp>
        <p:sp>
          <p:nvSpPr>
            <p:cNvPr id="9" name="TextBox 9"/>
            <p:cNvSpPr txBox="1"/>
            <p:nvPr/>
          </p:nvSpPr>
          <p:spPr>
            <a:xfrm>
              <a:off x="0" y="-38100"/>
              <a:ext cx="83671" cy="121771"/>
            </a:xfrm>
            <a:prstGeom prst="rect">
              <a:avLst/>
            </a:prstGeom>
          </p:spPr>
          <p:txBody>
            <a:bodyPr lIns="50800" tIns="50800" rIns="50800" bIns="50800" rtlCol="0" anchor="ctr"/>
            <a:lstStyle/>
            <a:p>
              <a:pPr algn="ctr">
                <a:lnSpc>
                  <a:spcPts val="2520"/>
                </a:lnSpc>
              </a:pPr>
              <a:endParaRPr/>
            </a:p>
          </p:txBody>
        </p:sp>
      </p:grpSp>
      <p:sp>
        <p:nvSpPr>
          <p:cNvPr id="10" name="Freeform 10"/>
          <p:cNvSpPr/>
          <p:nvPr/>
        </p:nvSpPr>
        <p:spPr>
          <a:xfrm rot="-9309044">
            <a:off x="-764231" y="-2842483"/>
            <a:ext cx="6260298" cy="8083019"/>
          </a:xfrm>
          <a:custGeom>
            <a:avLst/>
            <a:gdLst/>
            <a:ahLst/>
            <a:cxnLst/>
            <a:rect l="l" t="t" r="r" b="b"/>
            <a:pathLst>
              <a:path w="6260298" h="8083019">
                <a:moveTo>
                  <a:pt x="0" y="0"/>
                </a:moveTo>
                <a:lnTo>
                  <a:pt x="6260298" y="0"/>
                </a:lnTo>
                <a:lnTo>
                  <a:pt x="6260298" y="8083019"/>
                </a:lnTo>
                <a:lnTo>
                  <a:pt x="0" y="808301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1" name="Freeform 11"/>
          <p:cNvSpPr/>
          <p:nvPr/>
        </p:nvSpPr>
        <p:spPr>
          <a:xfrm rot="-10800000" flipH="1">
            <a:off x="-1234376" y="7897596"/>
            <a:ext cx="4909918" cy="2721409"/>
          </a:xfrm>
          <a:custGeom>
            <a:avLst/>
            <a:gdLst/>
            <a:ahLst/>
            <a:cxnLst/>
            <a:rect l="l" t="t" r="r" b="b"/>
            <a:pathLst>
              <a:path w="4909918" h="2721409">
                <a:moveTo>
                  <a:pt x="4909918" y="0"/>
                </a:moveTo>
                <a:lnTo>
                  <a:pt x="0" y="0"/>
                </a:lnTo>
                <a:lnTo>
                  <a:pt x="0" y="2721408"/>
                </a:lnTo>
                <a:lnTo>
                  <a:pt x="4909918" y="2721408"/>
                </a:lnTo>
                <a:lnTo>
                  <a:pt x="4909918"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2" name="Freeform 12"/>
          <p:cNvSpPr/>
          <p:nvPr/>
        </p:nvSpPr>
        <p:spPr>
          <a:xfrm>
            <a:off x="5362635" y="-171431"/>
            <a:ext cx="10629862" cy="10629862"/>
          </a:xfrm>
          <a:custGeom>
            <a:avLst/>
            <a:gdLst/>
            <a:ahLst/>
            <a:cxnLst/>
            <a:rect l="l" t="t" r="r" b="b"/>
            <a:pathLst>
              <a:path w="10629862" h="10629862">
                <a:moveTo>
                  <a:pt x="0" y="0"/>
                </a:moveTo>
                <a:lnTo>
                  <a:pt x="10629862" y="0"/>
                </a:lnTo>
                <a:lnTo>
                  <a:pt x="10629862" y="10629862"/>
                </a:lnTo>
                <a:lnTo>
                  <a:pt x="0" y="10629862"/>
                </a:lnTo>
                <a:lnTo>
                  <a:pt x="0" y="0"/>
                </a:lnTo>
                <a:close/>
              </a:path>
            </a:pathLst>
          </a:custGeom>
          <a:blipFill>
            <a:blip r:embed="rId6"/>
            <a:stretch>
              <a:fillRect/>
            </a:stretch>
          </a:blipFill>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0800000">
            <a:off x="15028981" y="7897596"/>
            <a:ext cx="4909918" cy="2721409"/>
          </a:xfrm>
          <a:custGeom>
            <a:avLst/>
            <a:gdLst/>
            <a:ahLst/>
            <a:cxnLst/>
            <a:rect l="l" t="t" r="r" b="b"/>
            <a:pathLst>
              <a:path w="4909918" h="2721409">
                <a:moveTo>
                  <a:pt x="0" y="0"/>
                </a:moveTo>
                <a:lnTo>
                  <a:pt x="4909919" y="0"/>
                </a:lnTo>
                <a:lnTo>
                  <a:pt x="4909919" y="2721408"/>
                </a:lnTo>
                <a:lnTo>
                  <a:pt x="0" y="27214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rot="-2700000">
            <a:off x="1094496" y="7738751"/>
            <a:ext cx="317690" cy="317690"/>
            <a:chOff x="0" y="0"/>
            <a:chExt cx="83671" cy="83671"/>
          </a:xfrm>
        </p:grpSpPr>
        <p:sp>
          <p:nvSpPr>
            <p:cNvPr id="4" name="Freeform 4"/>
            <p:cNvSpPr/>
            <p:nvPr/>
          </p:nvSpPr>
          <p:spPr>
            <a:xfrm>
              <a:off x="0" y="0"/>
              <a:ext cx="83671" cy="83671"/>
            </a:xfrm>
            <a:custGeom>
              <a:avLst/>
              <a:gdLst/>
              <a:ahLst/>
              <a:cxnLst/>
              <a:rect l="l" t="t" r="r" b="b"/>
              <a:pathLst>
                <a:path w="83671" h="83671">
                  <a:moveTo>
                    <a:pt x="0" y="0"/>
                  </a:moveTo>
                  <a:lnTo>
                    <a:pt x="83671" y="0"/>
                  </a:lnTo>
                  <a:lnTo>
                    <a:pt x="83671" y="83671"/>
                  </a:lnTo>
                  <a:lnTo>
                    <a:pt x="0" y="83671"/>
                  </a:lnTo>
                  <a:close/>
                </a:path>
              </a:pathLst>
            </a:custGeom>
            <a:solidFill>
              <a:srgbClr val="F8BC00"/>
            </a:solidFill>
          </p:spPr>
        </p:sp>
        <p:sp>
          <p:nvSpPr>
            <p:cNvPr id="5" name="TextBox 5"/>
            <p:cNvSpPr txBox="1"/>
            <p:nvPr/>
          </p:nvSpPr>
          <p:spPr>
            <a:xfrm>
              <a:off x="0" y="-38100"/>
              <a:ext cx="83671" cy="121771"/>
            </a:xfrm>
            <a:prstGeom prst="rect">
              <a:avLst/>
            </a:prstGeom>
          </p:spPr>
          <p:txBody>
            <a:bodyPr lIns="50800" tIns="50800" rIns="50800" bIns="50800" rtlCol="0" anchor="ctr"/>
            <a:lstStyle/>
            <a:p>
              <a:pPr algn="ctr">
                <a:lnSpc>
                  <a:spcPts val="2520"/>
                </a:lnSpc>
              </a:pPr>
              <a:endParaRPr/>
            </a:p>
          </p:txBody>
        </p:sp>
      </p:grpSp>
      <p:sp>
        <p:nvSpPr>
          <p:cNvPr id="6" name="TextBox 6"/>
          <p:cNvSpPr txBox="1"/>
          <p:nvPr/>
        </p:nvSpPr>
        <p:spPr>
          <a:xfrm>
            <a:off x="332133" y="2779178"/>
            <a:ext cx="6209782" cy="4480747"/>
          </a:xfrm>
          <a:prstGeom prst="rect">
            <a:avLst/>
          </a:prstGeom>
        </p:spPr>
        <p:txBody>
          <a:bodyPr lIns="0" tIns="0" rIns="0" bIns="0" rtlCol="0" anchor="t">
            <a:spAutoFit/>
          </a:bodyPr>
          <a:lstStyle/>
          <a:p>
            <a:pPr algn="ctr">
              <a:lnSpc>
                <a:spcPts val="8840"/>
              </a:lnSpc>
            </a:pPr>
            <a:r>
              <a:rPr lang="en-US" sz="7893" b="1" spc="-457">
                <a:solidFill>
                  <a:srgbClr val="000000"/>
                </a:solidFill>
                <a:latin typeface="DM Sans Bold"/>
                <a:ea typeface="DM Sans Bold"/>
                <a:cs typeface="DM Sans Bold"/>
                <a:sym typeface="DM Sans Bold"/>
              </a:rPr>
              <a:t>Architectural Design for Proposed System</a:t>
            </a:r>
          </a:p>
        </p:txBody>
      </p:sp>
      <p:grpSp>
        <p:nvGrpSpPr>
          <p:cNvPr id="7" name="Group 7"/>
          <p:cNvGrpSpPr/>
          <p:nvPr/>
        </p:nvGrpSpPr>
        <p:grpSpPr>
          <a:xfrm rot="-2700000">
            <a:off x="17708330" y="464665"/>
            <a:ext cx="317690" cy="317690"/>
            <a:chOff x="0" y="0"/>
            <a:chExt cx="83671" cy="83671"/>
          </a:xfrm>
        </p:grpSpPr>
        <p:sp>
          <p:nvSpPr>
            <p:cNvPr id="8" name="Freeform 8"/>
            <p:cNvSpPr/>
            <p:nvPr/>
          </p:nvSpPr>
          <p:spPr>
            <a:xfrm>
              <a:off x="0" y="0"/>
              <a:ext cx="83671" cy="83671"/>
            </a:xfrm>
            <a:custGeom>
              <a:avLst/>
              <a:gdLst/>
              <a:ahLst/>
              <a:cxnLst/>
              <a:rect l="l" t="t" r="r" b="b"/>
              <a:pathLst>
                <a:path w="83671" h="83671">
                  <a:moveTo>
                    <a:pt x="0" y="0"/>
                  </a:moveTo>
                  <a:lnTo>
                    <a:pt x="83671" y="0"/>
                  </a:lnTo>
                  <a:lnTo>
                    <a:pt x="83671" y="83671"/>
                  </a:lnTo>
                  <a:lnTo>
                    <a:pt x="0" y="83671"/>
                  </a:lnTo>
                  <a:close/>
                </a:path>
              </a:pathLst>
            </a:custGeom>
            <a:solidFill>
              <a:srgbClr val="F8BC00"/>
            </a:solidFill>
          </p:spPr>
        </p:sp>
        <p:sp>
          <p:nvSpPr>
            <p:cNvPr id="9" name="TextBox 9"/>
            <p:cNvSpPr txBox="1"/>
            <p:nvPr/>
          </p:nvSpPr>
          <p:spPr>
            <a:xfrm>
              <a:off x="0" y="-38100"/>
              <a:ext cx="83671" cy="121771"/>
            </a:xfrm>
            <a:prstGeom prst="rect">
              <a:avLst/>
            </a:prstGeom>
          </p:spPr>
          <p:txBody>
            <a:bodyPr lIns="50800" tIns="50800" rIns="50800" bIns="50800" rtlCol="0" anchor="ctr"/>
            <a:lstStyle/>
            <a:p>
              <a:pPr algn="ctr">
                <a:lnSpc>
                  <a:spcPts val="2520"/>
                </a:lnSpc>
              </a:pPr>
              <a:endParaRPr/>
            </a:p>
          </p:txBody>
        </p:sp>
      </p:grpSp>
      <p:sp>
        <p:nvSpPr>
          <p:cNvPr id="10" name="Freeform 10"/>
          <p:cNvSpPr/>
          <p:nvPr/>
        </p:nvSpPr>
        <p:spPr>
          <a:xfrm rot="-9309044">
            <a:off x="-1126956" y="-2459249"/>
            <a:ext cx="6260298" cy="8083019"/>
          </a:xfrm>
          <a:custGeom>
            <a:avLst/>
            <a:gdLst/>
            <a:ahLst/>
            <a:cxnLst/>
            <a:rect l="l" t="t" r="r" b="b"/>
            <a:pathLst>
              <a:path w="6260298" h="8083019">
                <a:moveTo>
                  <a:pt x="0" y="0"/>
                </a:moveTo>
                <a:lnTo>
                  <a:pt x="6260298" y="0"/>
                </a:lnTo>
                <a:lnTo>
                  <a:pt x="6260298" y="8083019"/>
                </a:lnTo>
                <a:lnTo>
                  <a:pt x="0" y="808301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1" name="Freeform 11"/>
          <p:cNvSpPr/>
          <p:nvPr/>
        </p:nvSpPr>
        <p:spPr>
          <a:xfrm rot="-10800000" flipH="1">
            <a:off x="-191127" y="8122236"/>
            <a:ext cx="4909918" cy="2721409"/>
          </a:xfrm>
          <a:custGeom>
            <a:avLst/>
            <a:gdLst/>
            <a:ahLst/>
            <a:cxnLst/>
            <a:rect l="l" t="t" r="r" b="b"/>
            <a:pathLst>
              <a:path w="4909918" h="2721409">
                <a:moveTo>
                  <a:pt x="4909918" y="0"/>
                </a:moveTo>
                <a:lnTo>
                  <a:pt x="0" y="0"/>
                </a:lnTo>
                <a:lnTo>
                  <a:pt x="0" y="2721409"/>
                </a:lnTo>
                <a:lnTo>
                  <a:pt x="4909918" y="2721409"/>
                </a:lnTo>
                <a:lnTo>
                  <a:pt x="4909918"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2" name="Freeform 12"/>
          <p:cNvSpPr/>
          <p:nvPr/>
        </p:nvSpPr>
        <p:spPr>
          <a:xfrm>
            <a:off x="6541915" y="0"/>
            <a:ext cx="10931812" cy="10287000"/>
          </a:xfrm>
          <a:custGeom>
            <a:avLst/>
            <a:gdLst/>
            <a:ahLst/>
            <a:cxnLst/>
            <a:rect l="l" t="t" r="r" b="b"/>
            <a:pathLst>
              <a:path w="10931812" h="10287000">
                <a:moveTo>
                  <a:pt x="0" y="0"/>
                </a:moveTo>
                <a:lnTo>
                  <a:pt x="10931812" y="0"/>
                </a:lnTo>
                <a:lnTo>
                  <a:pt x="10931812" y="10287000"/>
                </a:lnTo>
                <a:lnTo>
                  <a:pt x="0" y="10287000"/>
                </a:lnTo>
                <a:lnTo>
                  <a:pt x="0" y="0"/>
                </a:lnTo>
                <a:close/>
              </a:path>
            </a:pathLst>
          </a:custGeom>
          <a:blipFill>
            <a:blip r:embed="rId6"/>
            <a:stretch>
              <a:fillRect t="-3134" b="-3134"/>
            </a:stretch>
          </a:blipFill>
        </p:spPr>
      </p:sp>
      <p:grpSp>
        <p:nvGrpSpPr>
          <p:cNvPr id="13" name="Group 13"/>
          <p:cNvGrpSpPr/>
          <p:nvPr/>
        </p:nvGrpSpPr>
        <p:grpSpPr>
          <a:xfrm rot="-2700000">
            <a:off x="17708330" y="8579824"/>
            <a:ext cx="317690" cy="317690"/>
            <a:chOff x="0" y="0"/>
            <a:chExt cx="83671" cy="83671"/>
          </a:xfrm>
        </p:grpSpPr>
        <p:sp>
          <p:nvSpPr>
            <p:cNvPr id="14" name="Freeform 14"/>
            <p:cNvSpPr/>
            <p:nvPr/>
          </p:nvSpPr>
          <p:spPr>
            <a:xfrm>
              <a:off x="0" y="0"/>
              <a:ext cx="83671" cy="83671"/>
            </a:xfrm>
            <a:custGeom>
              <a:avLst/>
              <a:gdLst/>
              <a:ahLst/>
              <a:cxnLst/>
              <a:rect l="l" t="t" r="r" b="b"/>
              <a:pathLst>
                <a:path w="83671" h="83671">
                  <a:moveTo>
                    <a:pt x="0" y="0"/>
                  </a:moveTo>
                  <a:lnTo>
                    <a:pt x="83671" y="0"/>
                  </a:lnTo>
                  <a:lnTo>
                    <a:pt x="83671" y="83671"/>
                  </a:lnTo>
                  <a:lnTo>
                    <a:pt x="0" y="83671"/>
                  </a:lnTo>
                  <a:close/>
                </a:path>
              </a:pathLst>
            </a:custGeom>
            <a:solidFill>
              <a:srgbClr val="F8BC00"/>
            </a:solidFill>
          </p:spPr>
        </p:sp>
        <p:sp>
          <p:nvSpPr>
            <p:cNvPr id="15" name="TextBox 15"/>
            <p:cNvSpPr txBox="1"/>
            <p:nvPr/>
          </p:nvSpPr>
          <p:spPr>
            <a:xfrm>
              <a:off x="0" y="-38100"/>
              <a:ext cx="83671" cy="121771"/>
            </a:xfrm>
            <a:prstGeom prst="rect">
              <a:avLst/>
            </a:prstGeom>
          </p:spPr>
          <p:txBody>
            <a:bodyPr lIns="50800" tIns="50800" rIns="50800" bIns="50800" rtlCol="0" anchor="ctr"/>
            <a:lstStyle/>
            <a:p>
              <a:pPr algn="ctr">
                <a:lnSpc>
                  <a:spcPts val="2520"/>
                </a:lnSpc>
              </a:pP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0800000">
            <a:off x="14012579" y="8227503"/>
            <a:ext cx="4909918" cy="2721409"/>
          </a:xfrm>
          <a:custGeom>
            <a:avLst/>
            <a:gdLst/>
            <a:ahLst/>
            <a:cxnLst/>
            <a:rect l="l" t="t" r="r" b="b"/>
            <a:pathLst>
              <a:path w="4909918" h="2721409">
                <a:moveTo>
                  <a:pt x="0" y="0"/>
                </a:moveTo>
                <a:lnTo>
                  <a:pt x="4909918" y="0"/>
                </a:lnTo>
                <a:lnTo>
                  <a:pt x="4909918" y="2721409"/>
                </a:lnTo>
                <a:lnTo>
                  <a:pt x="0" y="27214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rot="-2700000">
            <a:off x="180118" y="8293299"/>
            <a:ext cx="317690" cy="317690"/>
            <a:chOff x="0" y="0"/>
            <a:chExt cx="83671" cy="83671"/>
          </a:xfrm>
        </p:grpSpPr>
        <p:sp>
          <p:nvSpPr>
            <p:cNvPr id="4" name="Freeform 4"/>
            <p:cNvSpPr/>
            <p:nvPr/>
          </p:nvSpPr>
          <p:spPr>
            <a:xfrm>
              <a:off x="0" y="0"/>
              <a:ext cx="83671" cy="83671"/>
            </a:xfrm>
            <a:custGeom>
              <a:avLst/>
              <a:gdLst/>
              <a:ahLst/>
              <a:cxnLst/>
              <a:rect l="l" t="t" r="r" b="b"/>
              <a:pathLst>
                <a:path w="83671" h="83671">
                  <a:moveTo>
                    <a:pt x="0" y="0"/>
                  </a:moveTo>
                  <a:lnTo>
                    <a:pt x="83671" y="0"/>
                  </a:lnTo>
                  <a:lnTo>
                    <a:pt x="83671" y="83671"/>
                  </a:lnTo>
                  <a:lnTo>
                    <a:pt x="0" y="83671"/>
                  </a:lnTo>
                  <a:close/>
                </a:path>
              </a:pathLst>
            </a:custGeom>
            <a:solidFill>
              <a:srgbClr val="F8BC00"/>
            </a:solidFill>
          </p:spPr>
        </p:sp>
        <p:sp>
          <p:nvSpPr>
            <p:cNvPr id="5" name="TextBox 5"/>
            <p:cNvSpPr txBox="1"/>
            <p:nvPr/>
          </p:nvSpPr>
          <p:spPr>
            <a:xfrm>
              <a:off x="0" y="-38100"/>
              <a:ext cx="83671" cy="121771"/>
            </a:xfrm>
            <a:prstGeom prst="rect">
              <a:avLst/>
            </a:prstGeom>
          </p:spPr>
          <p:txBody>
            <a:bodyPr lIns="50800" tIns="50800" rIns="50800" bIns="50800" rtlCol="0" anchor="ctr"/>
            <a:lstStyle/>
            <a:p>
              <a:pPr algn="ctr">
                <a:lnSpc>
                  <a:spcPts val="2520"/>
                </a:lnSpc>
              </a:pPr>
              <a:endParaRPr/>
            </a:p>
          </p:txBody>
        </p:sp>
      </p:grpSp>
      <p:grpSp>
        <p:nvGrpSpPr>
          <p:cNvPr id="6" name="Group 6"/>
          <p:cNvGrpSpPr/>
          <p:nvPr/>
        </p:nvGrpSpPr>
        <p:grpSpPr>
          <a:xfrm rot="-2700000">
            <a:off x="17325096" y="464665"/>
            <a:ext cx="317690" cy="317690"/>
            <a:chOff x="0" y="0"/>
            <a:chExt cx="83671" cy="83671"/>
          </a:xfrm>
        </p:grpSpPr>
        <p:sp>
          <p:nvSpPr>
            <p:cNvPr id="7" name="Freeform 7"/>
            <p:cNvSpPr/>
            <p:nvPr/>
          </p:nvSpPr>
          <p:spPr>
            <a:xfrm>
              <a:off x="0" y="0"/>
              <a:ext cx="83671" cy="83671"/>
            </a:xfrm>
            <a:custGeom>
              <a:avLst/>
              <a:gdLst/>
              <a:ahLst/>
              <a:cxnLst/>
              <a:rect l="l" t="t" r="r" b="b"/>
              <a:pathLst>
                <a:path w="83671" h="83671">
                  <a:moveTo>
                    <a:pt x="0" y="0"/>
                  </a:moveTo>
                  <a:lnTo>
                    <a:pt x="83671" y="0"/>
                  </a:lnTo>
                  <a:lnTo>
                    <a:pt x="83671" y="83671"/>
                  </a:lnTo>
                  <a:lnTo>
                    <a:pt x="0" y="83671"/>
                  </a:lnTo>
                  <a:close/>
                </a:path>
              </a:pathLst>
            </a:custGeom>
            <a:solidFill>
              <a:srgbClr val="F8BC00"/>
            </a:solidFill>
          </p:spPr>
        </p:sp>
        <p:sp>
          <p:nvSpPr>
            <p:cNvPr id="8" name="TextBox 8"/>
            <p:cNvSpPr txBox="1"/>
            <p:nvPr/>
          </p:nvSpPr>
          <p:spPr>
            <a:xfrm>
              <a:off x="0" y="-38100"/>
              <a:ext cx="83671" cy="121771"/>
            </a:xfrm>
            <a:prstGeom prst="rect">
              <a:avLst/>
            </a:prstGeom>
          </p:spPr>
          <p:txBody>
            <a:bodyPr lIns="50800" tIns="50800" rIns="50800" bIns="50800" rtlCol="0" anchor="ctr"/>
            <a:lstStyle/>
            <a:p>
              <a:pPr algn="ctr">
                <a:lnSpc>
                  <a:spcPts val="2520"/>
                </a:lnSpc>
              </a:pPr>
              <a:endParaRPr/>
            </a:p>
          </p:txBody>
        </p:sp>
      </p:grpSp>
      <p:sp>
        <p:nvSpPr>
          <p:cNvPr id="9" name="Freeform 9"/>
          <p:cNvSpPr/>
          <p:nvPr/>
        </p:nvSpPr>
        <p:spPr>
          <a:xfrm rot="-10800000" flipH="1">
            <a:off x="-1234376" y="7897596"/>
            <a:ext cx="4909918" cy="2721409"/>
          </a:xfrm>
          <a:custGeom>
            <a:avLst/>
            <a:gdLst/>
            <a:ahLst/>
            <a:cxnLst/>
            <a:rect l="l" t="t" r="r" b="b"/>
            <a:pathLst>
              <a:path w="4909918" h="2721409">
                <a:moveTo>
                  <a:pt x="4909918" y="0"/>
                </a:moveTo>
                <a:lnTo>
                  <a:pt x="0" y="0"/>
                </a:lnTo>
                <a:lnTo>
                  <a:pt x="0" y="2721408"/>
                </a:lnTo>
                <a:lnTo>
                  <a:pt x="4909918" y="2721408"/>
                </a:lnTo>
                <a:lnTo>
                  <a:pt x="4909918"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p:cNvSpPr/>
          <p:nvPr/>
        </p:nvSpPr>
        <p:spPr>
          <a:xfrm>
            <a:off x="1028700" y="355303"/>
            <a:ext cx="15735598" cy="9232904"/>
          </a:xfrm>
          <a:custGeom>
            <a:avLst/>
            <a:gdLst/>
            <a:ahLst/>
            <a:cxnLst/>
            <a:rect l="l" t="t" r="r" b="b"/>
            <a:pathLst>
              <a:path w="15735598" h="9232904">
                <a:moveTo>
                  <a:pt x="0" y="0"/>
                </a:moveTo>
                <a:lnTo>
                  <a:pt x="15735598" y="0"/>
                </a:lnTo>
                <a:lnTo>
                  <a:pt x="15735598" y="9232904"/>
                </a:lnTo>
                <a:lnTo>
                  <a:pt x="0" y="9232904"/>
                </a:lnTo>
                <a:lnTo>
                  <a:pt x="0" y="0"/>
                </a:lnTo>
                <a:close/>
              </a:path>
            </a:pathLst>
          </a:custGeom>
          <a:blipFill>
            <a:blip r:embed="rId4"/>
            <a:stretch>
              <a:fillRect l="-3338" t="-41187" r="-3228" b="-40434"/>
            </a:stretch>
          </a:blipFill>
        </p:spPr>
      </p:sp>
      <p:sp>
        <p:nvSpPr>
          <p:cNvPr id="11" name="Freeform 11"/>
          <p:cNvSpPr/>
          <p:nvPr/>
        </p:nvSpPr>
        <p:spPr>
          <a:xfrm rot="-9769091">
            <a:off x="-977139" y="-3012809"/>
            <a:ext cx="6260298" cy="8083019"/>
          </a:xfrm>
          <a:custGeom>
            <a:avLst/>
            <a:gdLst/>
            <a:ahLst/>
            <a:cxnLst/>
            <a:rect l="l" t="t" r="r" b="b"/>
            <a:pathLst>
              <a:path w="6260298" h="8083019">
                <a:moveTo>
                  <a:pt x="0" y="0"/>
                </a:moveTo>
                <a:lnTo>
                  <a:pt x="6260298" y="0"/>
                </a:lnTo>
                <a:lnTo>
                  <a:pt x="6260298" y="8083018"/>
                </a:lnTo>
                <a:lnTo>
                  <a:pt x="0" y="808301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0800000">
            <a:off x="14012579" y="8227503"/>
            <a:ext cx="4909918" cy="2721409"/>
          </a:xfrm>
          <a:custGeom>
            <a:avLst/>
            <a:gdLst/>
            <a:ahLst/>
            <a:cxnLst/>
            <a:rect l="l" t="t" r="r" b="b"/>
            <a:pathLst>
              <a:path w="4909918" h="2721409">
                <a:moveTo>
                  <a:pt x="0" y="0"/>
                </a:moveTo>
                <a:lnTo>
                  <a:pt x="4909918" y="0"/>
                </a:lnTo>
                <a:lnTo>
                  <a:pt x="4909918" y="2721409"/>
                </a:lnTo>
                <a:lnTo>
                  <a:pt x="0" y="27214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rot="-2700000">
            <a:off x="180118" y="8293299"/>
            <a:ext cx="317690" cy="317690"/>
            <a:chOff x="0" y="0"/>
            <a:chExt cx="83671" cy="83671"/>
          </a:xfrm>
        </p:grpSpPr>
        <p:sp>
          <p:nvSpPr>
            <p:cNvPr id="4" name="Freeform 4"/>
            <p:cNvSpPr/>
            <p:nvPr/>
          </p:nvSpPr>
          <p:spPr>
            <a:xfrm>
              <a:off x="0" y="0"/>
              <a:ext cx="83671" cy="83671"/>
            </a:xfrm>
            <a:custGeom>
              <a:avLst/>
              <a:gdLst/>
              <a:ahLst/>
              <a:cxnLst/>
              <a:rect l="l" t="t" r="r" b="b"/>
              <a:pathLst>
                <a:path w="83671" h="83671">
                  <a:moveTo>
                    <a:pt x="0" y="0"/>
                  </a:moveTo>
                  <a:lnTo>
                    <a:pt x="83671" y="0"/>
                  </a:lnTo>
                  <a:lnTo>
                    <a:pt x="83671" y="83671"/>
                  </a:lnTo>
                  <a:lnTo>
                    <a:pt x="0" y="83671"/>
                  </a:lnTo>
                  <a:close/>
                </a:path>
              </a:pathLst>
            </a:custGeom>
            <a:solidFill>
              <a:srgbClr val="F8BC00"/>
            </a:solidFill>
          </p:spPr>
        </p:sp>
        <p:sp>
          <p:nvSpPr>
            <p:cNvPr id="5" name="TextBox 5"/>
            <p:cNvSpPr txBox="1"/>
            <p:nvPr/>
          </p:nvSpPr>
          <p:spPr>
            <a:xfrm>
              <a:off x="0" y="-38100"/>
              <a:ext cx="83671" cy="121771"/>
            </a:xfrm>
            <a:prstGeom prst="rect">
              <a:avLst/>
            </a:prstGeom>
          </p:spPr>
          <p:txBody>
            <a:bodyPr lIns="50800" tIns="50800" rIns="50800" bIns="50800" rtlCol="0" anchor="ctr"/>
            <a:lstStyle/>
            <a:p>
              <a:pPr algn="ctr">
                <a:lnSpc>
                  <a:spcPts val="2520"/>
                </a:lnSpc>
              </a:pPr>
              <a:endParaRPr/>
            </a:p>
          </p:txBody>
        </p:sp>
      </p:grpSp>
      <p:sp>
        <p:nvSpPr>
          <p:cNvPr id="6" name="TextBox 6"/>
          <p:cNvSpPr txBox="1"/>
          <p:nvPr/>
        </p:nvSpPr>
        <p:spPr>
          <a:xfrm>
            <a:off x="829542" y="255994"/>
            <a:ext cx="12988242" cy="1203261"/>
          </a:xfrm>
          <a:prstGeom prst="rect">
            <a:avLst/>
          </a:prstGeom>
        </p:spPr>
        <p:txBody>
          <a:bodyPr lIns="0" tIns="0" rIns="0" bIns="0" rtlCol="0" anchor="t">
            <a:spAutoFit/>
          </a:bodyPr>
          <a:lstStyle/>
          <a:p>
            <a:pPr algn="ctr">
              <a:lnSpc>
                <a:spcPts val="9803"/>
              </a:lnSpc>
              <a:spcBef>
                <a:spcPct val="0"/>
              </a:spcBef>
            </a:pPr>
            <a:r>
              <a:rPr lang="en-US" sz="7002" b="1" spc="-539">
                <a:solidFill>
                  <a:srgbClr val="000000"/>
                </a:solidFill>
                <a:latin typeface="DM Sans Bold"/>
                <a:ea typeface="DM Sans Bold"/>
                <a:cs typeface="DM Sans Bold"/>
                <a:sym typeface="DM Sans Bold"/>
              </a:rPr>
              <a:t>Algorithms / Techniques Used</a:t>
            </a:r>
          </a:p>
        </p:txBody>
      </p:sp>
      <p:grpSp>
        <p:nvGrpSpPr>
          <p:cNvPr id="7" name="Group 7"/>
          <p:cNvGrpSpPr/>
          <p:nvPr/>
        </p:nvGrpSpPr>
        <p:grpSpPr>
          <a:xfrm rot="-2700000">
            <a:off x="17325096" y="464665"/>
            <a:ext cx="317690" cy="317690"/>
            <a:chOff x="0" y="0"/>
            <a:chExt cx="83671" cy="83671"/>
          </a:xfrm>
        </p:grpSpPr>
        <p:sp>
          <p:nvSpPr>
            <p:cNvPr id="8" name="Freeform 8"/>
            <p:cNvSpPr/>
            <p:nvPr/>
          </p:nvSpPr>
          <p:spPr>
            <a:xfrm>
              <a:off x="0" y="0"/>
              <a:ext cx="83671" cy="83671"/>
            </a:xfrm>
            <a:custGeom>
              <a:avLst/>
              <a:gdLst/>
              <a:ahLst/>
              <a:cxnLst/>
              <a:rect l="l" t="t" r="r" b="b"/>
              <a:pathLst>
                <a:path w="83671" h="83671">
                  <a:moveTo>
                    <a:pt x="0" y="0"/>
                  </a:moveTo>
                  <a:lnTo>
                    <a:pt x="83671" y="0"/>
                  </a:lnTo>
                  <a:lnTo>
                    <a:pt x="83671" y="83671"/>
                  </a:lnTo>
                  <a:lnTo>
                    <a:pt x="0" y="83671"/>
                  </a:lnTo>
                  <a:close/>
                </a:path>
              </a:pathLst>
            </a:custGeom>
            <a:solidFill>
              <a:srgbClr val="F8BC00"/>
            </a:solidFill>
          </p:spPr>
        </p:sp>
        <p:sp>
          <p:nvSpPr>
            <p:cNvPr id="9" name="TextBox 9"/>
            <p:cNvSpPr txBox="1"/>
            <p:nvPr/>
          </p:nvSpPr>
          <p:spPr>
            <a:xfrm>
              <a:off x="0" y="-38100"/>
              <a:ext cx="83671" cy="121771"/>
            </a:xfrm>
            <a:prstGeom prst="rect">
              <a:avLst/>
            </a:prstGeom>
          </p:spPr>
          <p:txBody>
            <a:bodyPr lIns="50800" tIns="50800" rIns="50800" bIns="50800" rtlCol="0" anchor="ctr"/>
            <a:lstStyle/>
            <a:p>
              <a:pPr algn="ctr">
                <a:lnSpc>
                  <a:spcPts val="2520"/>
                </a:lnSpc>
              </a:pPr>
              <a:endParaRPr/>
            </a:p>
          </p:txBody>
        </p:sp>
      </p:grpSp>
      <p:sp>
        <p:nvSpPr>
          <p:cNvPr id="10" name="Freeform 10"/>
          <p:cNvSpPr/>
          <p:nvPr/>
        </p:nvSpPr>
        <p:spPr>
          <a:xfrm rot="-9309044">
            <a:off x="-1083593" y="-3012809"/>
            <a:ext cx="6260298" cy="8083019"/>
          </a:xfrm>
          <a:custGeom>
            <a:avLst/>
            <a:gdLst/>
            <a:ahLst/>
            <a:cxnLst/>
            <a:rect l="l" t="t" r="r" b="b"/>
            <a:pathLst>
              <a:path w="6260298" h="8083019">
                <a:moveTo>
                  <a:pt x="0" y="0"/>
                </a:moveTo>
                <a:lnTo>
                  <a:pt x="6260298" y="0"/>
                </a:lnTo>
                <a:lnTo>
                  <a:pt x="6260298" y="8083018"/>
                </a:lnTo>
                <a:lnTo>
                  <a:pt x="0" y="808301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1" name="Freeform 11"/>
          <p:cNvSpPr/>
          <p:nvPr/>
        </p:nvSpPr>
        <p:spPr>
          <a:xfrm rot="-10800000" flipH="1">
            <a:off x="-1234376" y="7897596"/>
            <a:ext cx="4909918" cy="2721409"/>
          </a:xfrm>
          <a:custGeom>
            <a:avLst/>
            <a:gdLst/>
            <a:ahLst/>
            <a:cxnLst/>
            <a:rect l="l" t="t" r="r" b="b"/>
            <a:pathLst>
              <a:path w="4909918" h="2721409">
                <a:moveTo>
                  <a:pt x="4909918" y="0"/>
                </a:moveTo>
                <a:lnTo>
                  <a:pt x="0" y="0"/>
                </a:lnTo>
                <a:lnTo>
                  <a:pt x="0" y="2721408"/>
                </a:lnTo>
                <a:lnTo>
                  <a:pt x="4909918" y="2721408"/>
                </a:lnTo>
                <a:lnTo>
                  <a:pt x="4909918"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2" name="TextBox 12"/>
          <p:cNvSpPr txBox="1"/>
          <p:nvPr/>
        </p:nvSpPr>
        <p:spPr>
          <a:xfrm>
            <a:off x="1220583" y="1632102"/>
            <a:ext cx="16038717" cy="1884045"/>
          </a:xfrm>
          <a:prstGeom prst="rect">
            <a:avLst/>
          </a:prstGeom>
        </p:spPr>
        <p:txBody>
          <a:bodyPr lIns="0" tIns="0" rIns="0" bIns="0" rtlCol="0" anchor="t">
            <a:spAutoFit/>
          </a:bodyPr>
          <a:lstStyle/>
          <a:p>
            <a:pPr marL="582927" lvl="1" indent="-291463" algn="just">
              <a:lnSpc>
                <a:spcPts val="3779"/>
              </a:lnSpc>
              <a:buFont typeface="Arial"/>
              <a:buChar char="•"/>
            </a:pPr>
            <a:r>
              <a:rPr lang="en-US" sz="2699" b="1">
                <a:solidFill>
                  <a:srgbClr val="000000"/>
                </a:solidFill>
                <a:latin typeface="DM Sans Bold"/>
                <a:ea typeface="DM Sans Bold"/>
                <a:cs typeface="DM Sans Bold"/>
                <a:sym typeface="DM Sans Bold"/>
              </a:rPr>
              <a:t>OCR &amp; Document Processing :</a:t>
            </a:r>
            <a:r>
              <a:rPr lang="en-US" sz="2699">
                <a:solidFill>
                  <a:srgbClr val="000000"/>
                </a:solidFill>
                <a:latin typeface="DM Sans"/>
                <a:ea typeface="DM Sans"/>
                <a:cs typeface="DM Sans"/>
                <a:sym typeface="DM Sans"/>
              </a:rPr>
              <a:t> OCR techniques are used to convert scanned insurance documents, PDFs, and images into machine-readable text. Image pre-processing methods such as grayscale conversion, noise removal, thresholding, and deskewing improve text extraction accuracy.</a:t>
            </a:r>
          </a:p>
        </p:txBody>
      </p:sp>
      <p:sp>
        <p:nvSpPr>
          <p:cNvPr id="13" name="TextBox 13"/>
          <p:cNvSpPr txBox="1"/>
          <p:nvPr/>
        </p:nvSpPr>
        <p:spPr>
          <a:xfrm>
            <a:off x="1220583" y="3887912"/>
            <a:ext cx="16038717" cy="1884045"/>
          </a:xfrm>
          <a:prstGeom prst="rect">
            <a:avLst/>
          </a:prstGeom>
        </p:spPr>
        <p:txBody>
          <a:bodyPr lIns="0" tIns="0" rIns="0" bIns="0" rtlCol="0" anchor="t">
            <a:spAutoFit/>
          </a:bodyPr>
          <a:lstStyle/>
          <a:p>
            <a:pPr marL="582927" lvl="1" indent="-291463" algn="just">
              <a:lnSpc>
                <a:spcPts val="3779"/>
              </a:lnSpc>
              <a:buFont typeface="Arial"/>
              <a:buChar char="•"/>
            </a:pPr>
            <a:r>
              <a:rPr lang="en-US" sz="2699" b="1">
                <a:solidFill>
                  <a:srgbClr val="000000"/>
                </a:solidFill>
                <a:latin typeface="DM Sans Bold"/>
                <a:ea typeface="DM Sans Bold"/>
                <a:cs typeface="DM Sans Bold"/>
                <a:sym typeface="DM Sans Bold"/>
              </a:rPr>
              <a:t>Generative AI &amp; NLP Techniques : </a:t>
            </a:r>
            <a:r>
              <a:rPr lang="en-US" sz="2699">
                <a:solidFill>
                  <a:srgbClr val="000000"/>
                </a:solidFill>
                <a:latin typeface="DM Sans"/>
                <a:ea typeface="DM Sans"/>
                <a:cs typeface="DM Sans"/>
                <a:sym typeface="DM Sans"/>
              </a:rPr>
              <a:t>Generative AI models are used to understand unstructured insurance data and extract key entities such as applicant details, medical history, and policy information. Prompt engineering and structured JSON outputs ensure accurate and consistent data extraction.</a:t>
            </a:r>
          </a:p>
        </p:txBody>
      </p:sp>
      <p:sp>
        <p:nvSpPr>
          <p:cNvPr id="14" name="TextBox 14"/>
          <p:cNvSpPr txBox="1"/>
          <p:nvPr/>
        </p:nvSpPr>
        <p:spPr>
          <a:xfrm>
            <a:off x="1124641" y="6090284"/>
            <a:ext cx="16038717" cy="1884045"/>
          </a:xfrm>
          <a:prstGeom prst="rect">
            <a:avLst/>
          </a:prstGeom>
        </p:spPr>
        <p:txBody>
          <a:bodyPr lIns="0" tIns="0" rIns="0" bIns="0" rtlCol="0" anchor="t">
            <a:spAutoFit/>
          </a:bodyPr>
          <a:lstStyle/>
          <a:p>
            <a:pPr marL="582927" lvl="1" indent="-291463" algn="just">
              <a:lnSpc>
                <a:spcPts val="3779"/>
              </a:lnSpc>
              <a:buFont typeface="Arial"/>
              <a:buChar char="•"/>
            </a:pPr>
            <a:r>
              <a:rPr lang="en-US" sz="2699" b="1">
                <a:solidFill>
                  <a:srgbClr val="000000"/>
                </a:solidFill>
                <a:latin typeface="DM Sans Bold"/>
                <a:ea typeface="DM Sans Bold"/>
                <a:cs typeface="DM Sans Bold"/>
                <a:sym typeface="DM Sans Bold"/>
              </a:rPr>
              <a:t>Data Validation &amp; Confidence Scoring :</a:t>
            </a:r>
            <a:r>
              <a:rPr lang="en-US" sz="2699">
                <a:solidFill>
                  <a:srgbClr val="000000"/>
                </a:solidFill>
                <a:latin typeface="DM Sans"/>
                <a:ea typeface="DM Sans"/>
                <a:cs typeface="DM Sans"/>
                <a:sym typeface="DM Sans"/>
              </a:rPr>
              <a:t> Rule-based validation techniques are applied to verify formats, mandatory fields, and business constraints. Confidence scoring is used to assess extraction reliability and flag low-confidence applications for manual review.</a:t>
            </a:r>
          </a:p>
          <a:p>
            <a:pPr algn="just">
              <a:lnSpc>
                <a:spcPts val="3779"/>
              </a:lnSpc>
            </a:pPr>
            <a:endParaRPr lang="en-US" sz="2699">
              <a:solidFill>
                <a:srgbClr val="000000"/>
              </a:solidFill>
              <a:latin typeface="DM Sans"/>
              <a:ea typeface="DM Sans"/>
              <a:cs typeface="DM Sans"/>
              <a:sym typeface="DM Sans"/>
            </a:endParaRPr>
          </a:p>
        </p:txBody>
      </p:sp>
      <p:sp>
        <p:nvSpPr>
          <p:cNvPr id="15" name="TextBox 15"/>
          <p:cNvSpPr txBox="1"/>
          <p:nvPr/>
        </p:nvSpPr>
        <p:spPr>
          <a:xfrm>
            <a:off x="1124641" y="7926705"/>
            <a:ext cx="16038717" cy="1884045"/>
          </a:xfrm>
          <a:prstGeom prst="rect">
            <a:avLst/>
          </a:prstGeom>
        </p:spPr>
        <p:txBody>
          <a:bodyPr lIns="0" tIns="0" rIns="0" bIns="0" rtlCol="0" anchor="t">
            <a:spAutoFit/>
          </a:bodyPr>
          <a:lstStyle/>
          <a:p>
            <a:pPr marL="582927" lvl="1" indent="-291463" algn="just">
              <a:lnSpc>
                <a:spcPts val="3779"/>
              </a:lnSpc>
              <a:buFont typeface="Arial"/>
              <a:buChar char="•"/>
            </a:pPr>
            <a:r>
              <a:rPr lang="en-US" sz="2699" b="1">
                <a:solidFill>
                  <a:srgbClr val="000000"/>
                </a:solidFill>
                <a:latin typeface="DM Sans Bold"/>
                <a:ea typeface="DM Sans Bold"/>
                <a:cs typeface="DM Sans Bold"/>
                <a:sym typeface="DM Sans Bold"/>
              </a:rPr>
              <a:t>Backend &amp; API Integration :</a:t>
            </a:r>
            <a:r>
              <a:rPr lang="en-US" sz="2699">
                <a:solidFill>
                  <a:srgbClr val="000000"/>
                </a:solidFill>
                <a:latin typeface="DM Sans"/>
                <a:ea typeface="DM Sans"/>
                <a:cs typeface="DM Sans"/>
                <a:sym typeface="DM Sans"/>
              </a:rPr>
              <a:t> RESTful APIs are developed using Python frameworks to automate data flow between processing modules and insurance systems. Logging, error handling, and audit trails ensure reliability and traceability.</a:t>
            </a:r>
          </a:p>
          <a:p>
            <a:pPr algn="just">
              <a:lnSpc>
                <a:spcPts val="3779"/>
              </a:lnSpc>
            </a:pPr>
            <a:endParaRPr lang="en-US" sz="2699">
              <a:solidFill>
                <a:srgbClr val="000000"/>
              </a:solidFill>
              <a:latin typeface="DM Sans"/>
              <a:ea typeface="DM Sans"/>
              <a:cs typeface="DM Sans"/>
              <a:sym typeface="DM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0800000">
            <a:off x="14012579" y="8227503"/>
            <a:ext cx="4909918" cy="2721409"/>
          </a:xfrm>
          <a:custGeom>
            <a:avLst/>
            <a:gdLst/>
            <a:ahLst/>
            <a:cxnLst/>
            <a:rect l="l" t="t" r="r" b="b"/>
            <a:pathLst>
              <a:path w="4909918" h="2721409">
                <a:moveTo>
                  <a:pt x="0" y="0"/>
                </a:moveTo>
                <a:lnTo>
                  <a:pt x="4909918" y="0"/>
                </a:lnTo>
                <a:lnTo>
                  <a:pt x="4909918" y="2721409"/>
                </a:lnTo>
                <a:lnTo>
                  <a:pt x="0" y="27214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rot="-2700000">
            <a:off x="180118" y="8293299"/>
            <a:ext cx="317690" cy="317690"/>
            <a:chOff x="0" y="0"/>
            <a:chExt cx="83671" cy="83671"/>
          </a:xfrm>
        </p:grpSpPr>
        <p:sp>
          <p:nvSpPr>
            <p:cNvPr id="4" name="Freeform 4"/>
            <p:cNvSpPr/>
            <p:nvPr/>
          </p:nvSpPr>
          <p:spPr>
            <a:xfrm>
              <a:off x="0" y="0"/>
              <a:ext cx="83671" cy="83671"/>
            </a:xfrm>
            <a:custGeom>
              <a:avLst/>
              <a:gdLst/>
              <a:ahLst/>
              <a:cxnLst/>
              <a:rect l="l" t="t" r="r" b="b"/>
              <a:pathLst>
                <a:path w="83671" h="83671">
                  <a:moveTo>
                    <a:pt x="0" y="0"/>
                  </a:moveTo>
                  <a:lnTo>
                    <a:pt x="83671" y="0"/>
                  </a:lnTo>
                  <a:lnTo>
                    <a:pt x="83671" y="83671"/>
                  </a:lnTo>
                  <a:lnTo>
                    <a:pt x="0" y="83671"/>
                  </a:lnTo>
                  <a:close/>
                </a:path>
              </a:pathLst>
            </a:custGeom>
            <a:solidFill>
              <a:srgbClr val="F8BC00"/>
            </a:solidFill>
          </p:spPr>
        </p:sp>
        <p:sp>
          <p:nvSpPr>
            <p:cNvPr id="5" name="TextBox 5"/>
            <p:cNvSpPr txBox="1"/>
            <p:nvPr/>
          </p:nvSpPr>
          <p:spPr>
            <a:xfrm>
              <a:off x="0" y="-38100"/>
              <a:ext cx="83671" cy="121771"/>
            </a:xfrm>
            <a:prstGeom prst="rect">
              <a:avLst/>
            </a:prstGeom>
          </p:spPr>
          <p:txBody>
            <a:bodyPr lIns="50800" tIns="50800" rIns="50800" bIns="50800" rtlCol="0" anchor="ctr"/>
            <a:lstStyle/>
            <a:p>
              <a:pPr algn="ctr">
                <a:lnSpc>
                  <a:spcPts val="2520"/>
                </a:lnSpc>
              </a:pPr>
              <a:endParaRPr/>
            </a:p>
          </p:txBody>
        </p:sp>
      </p:grpSp>
      <p:sp>
        <p:nvSpPr>
          <p:cNvPr id="6" name="TextBox 6"/>
          <p:cNvSpPr txBox="1"/>
          <p:nvPr/>
        </p:nvSpPr>
        <p:spPr>
          <a:xfrm>
            <a:off x="563604" y="246469"/>
            <a:ext cx="11383447" cy="1349551"/>
          </a:xfrm>
          <a:prstGeom prst="rect">
            <a:avLst/>
          </a:prstGeom>
        </p:spPr>
        <p:txBody>
          <a:bodyPr lIns="0" tIns="0" rIns="0" bIns="0" rtlCol="0" anchor="t">
            <a:spAutoFit/>
          </a:bodyPr>
          <a:lstStyle/>
          <a:p>
            <a:pPr algn="ctr">
              <a:lnSpc>
                <a:spcPts val="11050"/>
              </a:lnSpc>
              <a:spcBef>
                <a:spcPct val="0"/>
              </a:spcBef>
            </a:pPr>
            <a:r>
              <a:rPr lang="en-US" sz="7893" b="1" spc="-607">
                <a:solidFill>
                  <a:srgbClr val="000000"/>
                </a:solidFill>
                <a:latin typeface="DM Sans Bold"/>
                <a:ea typeface="DM Sans Bold"/>
                <a:cs typeface="DM Sans Bold"/>
                <a:sym typeface="DM Sans Bold"/>
              </a:rPr>
              <a:t>Expected outcomes</a:t>
            </a:r>
          </a:p>
        </p:txBody>
      </p:sp>
      <p:grpSp>
        <p:nvGrpSpPr>
          <p:cNvPr id="7" name="Group 7"/>
          <p:cNvGrpSpPr/>
          <p:nvPr/>
        </p:nvGrpSpPr>
        <p:grpSpPr>
          <a:xfrm rot="-2700000">
            <a:off x="17325096" y="464665"/>
            <a:ext cx="317690" cy="317690"/>
            <a:chOff x="0" y="0"/>
            <a:chExt cx="83671" cy="83671"/>
          </a:xfrm>
        </p:grpSpPr>
        <p:sp>
          <p:nvSpPr>
            <p:cNvPr id="8" name="Freeform 8"/>
            <p:cNvSpPr/>
            <p:nvPr/>
          </p:nvSpPr>
          <p:spPr>
            <a:xfrm>
              <a:off x="0" y="0"/>
              <a:ext cx="83671" cy="83671"/>
            </a:xfrm>
            <a:custGeom>
              <a:avLst/>
              <a:gdLst/>
              <a:ahLst/>
              <a:cxnLst/>
              <a:rect l="l" t="t" r="r" b="b"/>
              <a:pathLst>
                <a:path w="83671" h="83671">
                  <a:moveTo>
                    <a:pt x="0" y="0"/>
                  </a:moveTo>
                  <a:lnTo>
                    <a:pt x="83671" y="0"/>
                  </a:lnTo>
                  <a:lnTo>
                    <a:pt x="83671" y="83671"/>
                  </a:lnTo>
                  <a:lnTo>
                    <a:pt x="0" y="83671"/>
                  </a:lnTo>
                  <a:close/>
                </a:path>
              </a:pathLst>
            </a:custGeom>
            <a:solidFill>
              <a:srgbClr val="F8BC00"/>
            </a:solidFill>
          </p:spPr>
        </p:sp>
        <p:sp>
          <p:nvSpPr>
            <p:cNvPr id="9" name="TextBox 9"/>
            <p:cNvSpPr txBox="1"/>
            <p:nvPr/>
          </p:nvSpPr>
          <p:spPr>
            <a:xfrm>
              <a:off x="0" y="-38100"/>
              <a:ext cx="83671" cy="121771"/>
            </a:xfrm>
            <a:prstGeom prst="rect">
              <a:avLst/>
            </a:prstGeom>
          </p:spPr>
          <p:txBody>
            <a:bodyPr lIns="50800" tIns="50800" rIns="50800" bIns="50800" rtlCol="0" anchor="ctr"/>
            <a:lstStyle/>
            <a:p>
              <a:pPr algn="ctr">
                <a:lnSpc>
                  <a:spcPts val="2520"/>
                </a:lnSpc>
              </a:pPr>
              <a:endParaRPr/>
            </a:p>
          </p:txBody>
        </p:sp>
      </p:grpSp>
      <p:sp>
        <p:nvSpPr>
          <p:cNvPr id="10" name="Freeform 10"/>
          <p:cNvSpPr/>
          <p:nvPr/>
        </p:nvSpPr>
        <p:spPr>
          <a:xfrm rot="-9309044">
            <a:off x="-1083593" y="-3012809"/>
            <a:ext cx="6260298" cy="8083019"/>
          </a:xfrm>
          <a:custGeom>
            <a:avLst/>
            <a:gdLst/>
            <a:ahLst/>
            <a:cxnLst/>
            <a:rect l="l" t="t" r="r" b="b"/>
            <a:pathLst>
              <a:path w="6260298" h="8083019">
                <a:moveTo>
                  <a:pt x="0" y="0"/>
                </a:moveTo>
                <a:lnTo>
                  <a:pt x="6260298" y="0"/>
                </a:lnTo>
                <a:lnTo>
                  <a:pt x="6260298" y="8083018"/>
                </a:lnTo>
                <a:lnTo>
                  <a:pt x="0" y="808301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1" name="Freeform 11"/>
          <p:cNvSpPr/>
          <p:nvPr/>
        </p:nvSpPr>
        <p:spPr>
          <a:xfrm rot="-10800000" flipH="1">
            <a:off x="-1234376" y="7897596"/>
            <a:ext cx="4909918" cy="2721409"/>
          </a:xfrm>
          <a:custGeom>
            <a:avLst/>
            <a:gdLst/>
            <a:ahLst/>
            <a:cxnLst/>
            <a:rect l="l" t="t" r="r" b="b"/>
            <a:pathLst>
              <a:path w="4909918" h="2721409">
                <a:moveTo>
                  <a:pt x="4909918" y="0"/>
                </a:moveTo>
                <a:lnTo>
                  <a:pt x="0" y="0"/>
                </a:lnTo>
                <a:lnTo>
                  <a:pt x="0" y="2721408"/>
                </a:lnTo>
                <a:lnTo>
                  <a:pt x="4909918" y="2721408"/>
                </a:lnTo>
                <a:lnTo>
                  <a:pt x="4909918"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2" name="Freeform 12"/>
          <p:cNvSpPr/>
          <p:nvPr/>
        </p:nvSpPr>
        <p:spPr>
          <a:xfrm>
            <a:off x="5470295" y="1679315"/>
            <a:ext cx="8227504" cy="8227504"/>
          </a:xfrm>
          <a:custGeom>
            <a:avLst/>
            <a:gdLst/>
            <a:ahLst/>
            <a:cxnLst/>
            <a:rect l="l" t="t" r="r" b="b"/>
            <a:pathLst>
              <a:path w="8227504" h="8227504">
                <a:moveTo>
                  <a:pt x="0" y="0"/>
                </a:moveTo>
                <a:lnTo>
                  <a:pt x="8227504" y="0"/>
                </a:lnTo>
                <a:lnTo>
                  <a:pt x="8227504" y="8227504"/>
                </a:lnTo>
                <a:lnTo>
                  <a:pt x="0" y="8227504"/>
                </a:lnTo>
                <a:lnTo>
                  <a:pt x="0" y="0"/>
                </a:lnTo>
                <a:close/>
              </a:path>
            </a:pathLst>
          </a:custGeom>
          <a:blipFill>
            <a:blip r:embed="rId6"/>
            <a:stretch>
              <a:fillRect/>
            </a:stretch>
          </a:blipFill>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0800000">
            <a:off x="14012579" y="8227503"/>
            <a:ext cx="4909918" cy="2721409"/>
          </a:xfrm>
          <a:custGeom>
            <a:avLst/>
            <a:gdLst/>
            <a:ahLst/>
            <a:cxnLst/>
            <a:rect l="l" t="t" r="r" b="b"/>
            <a:pathLst>
              <a:path w="4909918" h="2721409">
                <a:moveTo>
                  <a:pt x="0" y="0"/>
                </a:moveTo>
                <a:lnTo>
                  <a:pt x="4909918" y="0"/>
                </a:lnTo>
                <a:lnTo>
                  <a:pt x="4909918" y="2721409"/>
                </a:lnTo>
                <a:lnTo>
                  <a:pt x="0" y="27214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rot="-2700000">
            <a:off x="180118" y="8293299"/>
            <a:ext cx="317690" cy="317690"/>
            <a:chOff x="0" y="0"/>
            <a:chExt cx="83671" cy="83671"/>
          </a:xfrm>
        </p:grpSpPr>
        <p:sp>
          <p:nvSpPr>
            <p:cNvPr id="4" name="Freeform 4"/>
            <p:cNvSpPr/>
            <p:nvPr/>
          </p:nvSpPr>
          <p:spPr>
            <a:xfrm>
              <a:off x="0" y="0"/>
              <a:ext cx="83671" cy="83671"/>
            </a:xfrm>
            <a:custGeom>
              <a:avLst/>
              <a:gdLst/>
              <a:ahLst/>
              <a:cxnLst/>
              <a:rect l="l" t="t" r="r" b="b"/>
              <a:pathLst>
                <a:path w="83671" h="83671">
                  <a:moveTo>
                    <a:pt x="0" y="0"/>
                  </a:moveTo>
                  <a:lnTo>
                    <a:pt x="83671" y="0"/>
                  </a:lnTo>
                  <a:lnTo>
                    <a:pt x="83671" y="83671"/>
                  </a:lnTo>
                  <a:lnTo>
                    <a:pt x="0" y="83671"/>
                  </a:lnTo>
                  <a:close/>
                </a:path>
              </a:pathLst>
            </a:custGeom>
            <a:solidFill>
              <a:srgbClr val="F8BC00"/>
            </a:solidFill>
          </p:spPr>
        </p:sp>
        <p:sp>
          <p:nvSpPr>
            <p:cNvPr id="5" name="TextBox 5"/>
            <p:cNvSpPr txBox="1"/>
            <p:nvPr/>
          </p:nvSpPr>
          <p:spPr>
            <a:xfrm>
              <a:off x="0" y="-38100"/>
              <a:ext cx="83671" cy="121771"/>
            </a:xfrm>
            <a:prstGeom prst="rect">
              <a:avLst/>
            </a:prstGeom>
          </p:spPr>
          <p:txBody>
            <a:bodyPr lIns="50800" tIns="50800" rIns="50800" bIns="50800" rtlCol="0" anchor="ctr"/>
            <a:lstStyle/>
            <a:p>
              <a:pPr algn="ctr">
                <a:lnSpc>
                  <a:spcPts val="2520"/>
                </a:lnSpc>
              </a:pPr>
              <a:endParaRPr/>
            </a:p>
          </p:txBody>
        </p:sp>
      </p:grpSp>
      <p:sp>
        <p:nvSpPr>
          <p:cNvPr id="6" name="TextBox 6"/>
          <p:cNvSpPr txBox="1"/>
          <p:nvPr/>
        </p:nvSpPr>
        <p:spPr>
          <a:xfrm>
            <a:off x="-970186" y="97175"/>
            <a:ext cx="14616435" cy="1349551"/>
          </a:xfrm>
          <a:prstGeom prst="rect">
            <a:avLst/>
          </a:prstGeom>
        </p:spPr>
        <p:txBody>
          <a:bodyPr lIns="0" tIns="0" rIns="0" bIns="0" rtlCol="0" anchor="t">
            <a:spAutoFit/>
          </a:bodyPr>
          <a:lstStyle/>
          <a:p>
            <a:pPr algn="ctr">
              <a:lnSpc>
                <a:spcPts val="11050"/>
              </a:lnSpc>
              <a:spcBef>
                <a:spcPct val="0"/>
              </a:spcBef>
            </a:pPr>
            <a:r>
              <a:rPr lang="en-US" sz="7893" b="1" spc="-607">
                <a:solidFill>
                  <a:srgbClr val="000000"/>
                </a:solidFill>
                <a:latin typeface="DM Sans Bold"/>
                <a:ea typeface="DM Sans Bold"/>
                <a:cs typeface="DM Sans Bold"/>
                <a:sym typeface="DM Sans Bold"/>
              </a:rPr>
              <a:t>Code implementation</a:t>
            </a:r>
          </a:p>
        </p:txBody>
      </p:sp>
      <p:grpSp>
        <p:nvGrpSpPr>
          <p:cNvPr id="7" name="Group 7"/>
          <p:cNvGrpSpPr/>
          <p:nvPr/>
        </p:nvGrpSpPr>
        <p:grpSpPr>
          <a:xfrm rot="-2700000">
            <a:off x="17325096" y="464665"/>
            <a:ext cx="317690" cy="317690"/>
            <a:chOff x="0" y="0"/>
            <a:chExt cx="83671" cy="83671"/>
          </a:xfrm>
        </p:grpSpPr>
        <p:sp>
          <p:nvSpPr>
            <p:cNvPr id="8" name="Freeform 8"/>
            <p:cNvSpPr/>
            <p:nvPr/>
          </p:nvSpPr>
          <p:spPr>
            <a:xfrm>
              <a:off x="0" y="0"/>
              <a:ext cx="83671" cy="83671"/>
            </a:xfrm>
            <a:custGeom>
              <a:avLst/>
              <a:gdLst/>
              <a:ahLst/>
              <a:cxnLst/>
              <a:rect l="l" t="t" r="r" b="b"/>
              <a:pathLst>
                <a:path w="83671" h="83671">
                  <a:moveTo>
                    <a:pt x="0" y="0"/>
                  </a:moveTo>
                  <a:lnTo>
                    <a:pt x="83671" y="0"/>
                  </a:lnTo>
                  <a:lnTo>
                    <a:pt x="83671" y="83671"/>
                  </a:lnTo>
                  <a:lnTo>
                    <a:pt x="0" y="83671"/>
                  </a:lnTo>
                  <a:close/>
                </a:path>
              </a:pathLst>
            </a:custGeom>
            <a:solidFill>
              <a:srgbClr val="F8BC00"/>
            </a:solidFill>
          </p:spPr>
        </p:sp>
        <p:sp>
          <p:nvSpPr>
            <p:cNvPr id="9" name="TextBox 9"/>
            <p:cNvSpPr txBox="1"/>
            <p:nvPr/>
          </p:nvSpPr>
          <p:spPr>
            <a:xfrm>
              <a:off x="0" y="-38100"/>
              <a:ext cx="83671" cy="121771"/>
            </a:xfrm>
            <a:prstGeom prst="rect">
              <a:avLst/>
            </a:prstGeom>
          </p:spPr>
          <p:txBody>
            <a:bodyPr lIns="50800" tIns="50800" rIns="50800" bIns="50800" rtlCol="0" anchor="ctr"/>
            <a:lstStyle/>
            <a:p>
              <a:pPr algn="ctr">
                <a:lnSpc>
                  <a:spcPts val="2520"/>
                </a:lnSpc>
              </a:pPr>
              <a:endParaRPr/>
            </a:p>
          </p:txBody>
        </p:sp>
      </p:grpSp>
      <p:sp>
        <p:nvSpPr>
          <p:cNvPr id="10" name="Freeform 10"/>
          <p:cNvSpPr/>
          <p:nvPr/>
        </p:nvSpPr>
        <p:spPr>
          <a:xfrm rot="-9309044">
            <a:off x="-1143742" y="-3012809"/>
            <a:ext cx="6260298" cy="8083019"/>
          </a:xfrm>
          <a:custGeom>
            <a:avLst/>
            <a:gdLst/>
            <a:ahLst/>
            <a:cxnLst/>
            <a:rect l="l" t="t" r="r" b="b"/>
            <a:pathLst>
              <a:path w="6260298" h="8083019">
                <a:moveTo>
                  <a:pt x="0" y="0"/>
                </a:moveTo>
                <a:lnTo>
                  <a:pt x="6260298" y="0"/>
                </a:lnTo>
                <a:lnTo>
                  <a:pt x="6260298" y="8083018"/>
                </a:lnTo>
                <a:lnTo>
                  <a:pt x="0" y="808301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1" name="Freeform 11"/>
          <p:cNvSpPr/>
          <p:nvPr/>
        </p:nvSpPr>
        <p:spPr>
          <a:xfrm rot="-10800000" flipH="1">
            <a:off x="-1234376" y="7897596"/>
            <a:ext cx="4909918" cy="2721409"/>
          </a:xfrm>
          <a:custGeom>
            <a:avLst/>
            <a:gdLst/>
            <a:ahLst/>
            <a:cxnLst/>
            <a:rect l="l" t="t" r="r" b="b"/>
            <a:pathLst>
              <a:path w="4909918" h="2721409">
                <a:moveTo>
                  <a:pt x="4909918" y="0"/>
                </a:moveTo>
                <a:lnTo>
                  <a:pt x="0" y="0"/>
                </a:lnTo>
                <a:lnTo>
                  <a:pt x="0" y="2721408"/>
                </a:lnTo>
                <a:lnTo>
                  <a:pt x="4909918" y="2721408"/>
                </a:lnTo>
                <a:lnTo>
                  <a:pt x="4909918"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2" name="Freeform 12"/>
          <p:cNvSpPr/>
          <p:nvPr/>
        </p:nvSpPr>
        <p:spPr>
          <a:xfrm>
            <a:off x="784905" y="2991835"/>
            <a:ext cx="7390940" cy="6039176"/>
          </a:xfrm>
          <a:custGeom>
            <a:avLst/>
            <a:gdLst/>
            <a:ahLst/>
            <a:cxnLst/>
            <a:rect l="l" t="t" r="r" b="b"/>
            <a:pathLst>
              <a:path w="7390940" h="6039176">
                <a:moveTo>
                  <a:pt x="0" y="0"/>
                </a:moveTo>
                <a:lnTo>
                  <a:pt x="7390939" y="0"/>
                </a:lnTo>
                <a:lnTo>
                  <a:pt x="7390939" y="6039175"/>
                </a:lnTo>
                <a:lnTo>
                  <a:pt x="0" y="6039175"/>
                </a:lnTo>
                <a:lnTo>
                  <a:pt x="0" y="0"/>
                </a:lnTo>
                <a:close/>
              </a:path>
            </a:pathLst>
          </a:custGeom>
          <a:blipFill>
            <a:blip r:embed="rId6"/>
            <a:stretch>
              <a:fillRect/>
            </a:stretch>
          </a:blipFill>
        </p:spPr>
      </p:sp>
      <p:sp>
        <p:nvSpPr>
          <p:cNvPr id="13" name="Freeform 13"/>
          <p:cNvSpPr/>
          <p:nvPr/>
        </p:nvSpPr>
        <p:spPr>
          <a:xfrm>
            <a:off x="8622703" y="2991835"/>
            <a:ext cx="6135672" cy="6039176"/>
          </a:xfrm>
          <a:custGeom>
            <a:avLst/>
            <a:gdLst/>
            <a:ahLst/>
            <a:cxnLst/>
            <a:rect l="l" t="t" r="r" b="b"/>
            <a:pathLst>
              <a:path w="6135672" h="6039176">
                <a:moveTo>
                  <a:pt x="0" y="0"/>
                </a:moveTo>
                <a:lnTo>
                  <a:pt x="6135672" y="0"/>
                </a:lnTo>
                <a:lnTo>
                  <a:pt x="6135672" y="6039175"/>
                </a:lnTo>
                <a:lnTo>
                  <a:pt x="0" y="6039175"/>
                </a:lnTo>
                <a:lnTo>
                  <a:pt x="0" y="0"/>
                </a:lnTo>
                <a:close/>
              </a:path>
            </a:pathLst>
          </a:custGeom>
          <a:blipFill>
            <a:blip r:embed="rId7"/>
            <a:stretch>
              <a:fillRect r="-735"/>
            </a:stretch>
          </a:blipFill>
        </p:spPr>
      </p:sp>
      <p:sp>
        <p:nvSpPr>
          <p:cNvPr id="14" name="TextBox 14"/>
          <p:cNvSpPr txBox="1"/>
          <p:nvPr/>
        </p:nvSpPr>
        <p:spPr>
          <a:xfrm>
            <a:off x="1028700" y="2300956"/>
            <a:ext cx="6728859" cy="481330"/>
          </a:xfrm>
          <a:prstGeom prst="rect">
            <a:avLst/>
          </a:prstGeom>
        </p:spPr>
        <p:txBody>
          <a:bodyPr lIns="0" tIns="0" rIns="0" bIns="0" rtlCol="0" anchor="t">
            <a:spAutoFit/>
          </a:bodyPr>
          <a:lstStyle/>
          <a:p>
            <a:pPr algn="ctr">
              <a:lnSpc>
                <a:spcPts val="3919"/>
              </a:lnSpc>
              <a:spcBef>
                <a:spcPct val="0"/>
              </a:spcBef>
            </a:pPr>
            <a:r>
              <a:rPr lang="en-US" sz="2799" b="1">
                <a:solidFill>
                  <a:srgbClr val="000000"/>
                </a:solidFill>
                <a:latin typeface="DM Sans Bold"/>
                <a:ea typeface="DM Sans Bold"/>
                <a:cs typeface="DM Sans Bold"/>
                <a:sym typeface="DM Sans Bold"/>
              </a:rPr>
              <a:t>OCR Service (Azure Form Recognizer)</a:t>
            </a:r>
          </a:p>
        </p:txBody>
      </p:sp>
      <p:sp>
        <p:nvSpPr>
          <p:cNvPr id="15" name="TextBox 15"/>
          <p:cNvSpPr txBox="1"/>
          <p:nvPr/>
        </p:nvSpPr>
        <p:spPr>
          <a:xfrm>
            <a:off x="8326109" y="2300956"/>
            <a:ext cx="6728859" cy="976630"/>
          </a:xfrm>
          <a:prstGeom prst="rect">
            <a:avLst/>
          </a:prstGeom>
        </p:spPr>
        <p:txBody>
          <a:bodyPr lIns="0" tIns="0" rIns="0" bIns="0" rtlCol="0" anchor="t">
            <a:spAutoFit/>
          </a:bodyPr>
          <a:lstStyle/>
          <a:p>
            <a:pPr algn="ctr">
              <a:lnSpc>
                <a:spcPts val="3919"/>
              </a:lnSpc>
              <a:spcBef>
                <a:spcPct val="0"/>
              </a:spcBef>
            </a:pPr>
            <a:r>
              <a:rPr lang="en-US" sz="2799" b="1">
                <a:solidFill>
                  <a:srgbClr val="000000"/>
                </a:solidFill>
                <a:latin typeface="DM Sans Bold"/>
                <a:ea typeface="DM Sans Bold"/>
                <a:cs typeface="DM Sans Bold"/>
                <a:sym typeface="DM Sans Bold"/>
              </a:rPr>
              <a:t> GenAI Extraction Service (GPT-4)</a:t>
            </a:r>
          </a:p>
          <a:p>
            <a:pPr algn="ctr">
              <a:lnSpc>
                <a:spcPts val="3919"/>
              </a:lnSpc>
              <a:spcBef>
                <a:spcPct val="0"/>
              </a:spcBef>
            </a:pPr>
            <a:endParaRPr lang="en-US" sz="2799" b="1">
              <a:solidFill>
                <a:srgbClr val="000000"/>
              </a:solidFill>
              <a:latin typeface="DM Sans Bold"/>
              <a:ea typeface="DM Sans Bold"/>
              <a:cs typeface="DM Sans Bold"/>
              <a:sym typeface="DM Sans Bo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0800000">
            <a:off x="14012579" y="8227503"/>
            <a:ext cx="4909918" cy="2721409"/>
          </a:xfrm>
          <a:custGeom>
            <a:avLst/>
            <a:gdLst/>
            <a:ahLst/>
            <a:cxnLst/>
            <a:rect l="l" t="t" r="r" b="b"/>
            <a:pathLst>
              <a:path w="4909918" h="2721409">
                <a:moveTo>
                  <a:pt x="0" y="0"/>
                </a:moveTo>
                <a:lnTo>
                  <a:pt x="4909918" y="0"/>
                </a:lnTo>
                <a:lnTo>
                  <a:pt x="4909918" y="2721409"/>
                </a:lnTo>
                <a:lnTo>
                  <a:pt x="0" y="27214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rot="-2700000">
            <a:off x="180118" y="8293299"/>
            <a:ext cx="317690" cy="317690"/>
            <a:chOff x="0" y="0"/>
            <a:chExt cx="83671" cy="83671"/>
          </a:xfrm>
        </p:grpSpPr>
        <p:sp>
          <p:nvSpPr>
            <p:cNvPr id="4" name="Freeform 4"/>
            <p:cNvSpPr/>
            <p:nvPr/>
          </p:nvSpPr>
          <p:spPr>
            <a:xfrm>
              <a:off x="0" y="0"/>
              <a:ext cx="83671" cy="83671"/>
            </a:xfrm>
            <a:custGeom>
              <a:avLst/>
              <a:gdLst/>
              <a:ahLst/>
              <a:cxnLst/>
              <a:rect l="l" t="t" r="r" b="b"/>
              <a:pathLst>
                <a:path w="83671" h="83671">
                  <a:moveTo>
                    <a:pt x="0" y="0"/>
                  </a:moveTo>
                  <a:lnTo>
                    <a:pt x="83671" y="0"/>
                  </a:lnTo>
                  <a:lnTo>
                    <a:pt x="83671" y="83671"/>
                  </a:lnTo>
                  <a:lnTo>
                    <a:pt x="0" y="83671"/>
                  </a:lnTo>
                  <a:close/>
                </a:path>
              </a:pathLst>
            </a:custGeom>
            <a:solidFill>
              <a:srgbClr val="F8BC00"/>
            </a:solidFill>
          </p:spPr>
        </p:sp>
        <p:sp>
          <p:nvSpPr>
            <p:cNvPr id="5" name="TextBox 5"/>
            <p:cNvSpPr txBox="1"/>
            <p:nvPr/>
          </p:nvSpPr>
          <p:spPr>
            <a:xfrm>
              <a:off x="0" y="-38100"/>
              <a:ext cx="83671" cy="121771"/>
            </a:xfrm>
            <a:prstGeom prst="rect">
              <a:avLst/>
            </a:prstGeom>
          </p:spPr>
          <p:txBody>
            <a:bodyPr lIns="50800" tIns="50800" rIns="50800" bIns="50800" rtlCol="0" anchor="ctr"/>
            <a:lstStyle/>
            <a:p>
              <a:pPr algn="ctr">
                <a:lnSpc>
                  <a:spcPts val="2520"/>
                </a:lnSpc>
              </a:pPr>
              <a:endParaRPr/>
            </a:p>
          </p:txBody>
        </p:sp>
      </p:grpSp>
      <p:sp>
        <p:nvSpPr>
          <p:cNvPr id="6" name="TextBox 6"/>
          <p:cNvSpPr txBox="1"/>
          <p:nvPr/>
        </p:nvSpPr>
        <p:spPr>
          <a:xfrm>
            <a:off x="-3224204" y="714800"/>
            <a:ext cx="12988242" cy="1225726"/>
          </a:xfrm>
          <a:prstGeom prst="rect">
            <a:avLst/>
          </a:prstGeom>
        </p:spPr>
        <p:txBody>
          <a:bodyPr lIns="0" tIns="0" rIns="0" bIns="0" rtlCol="0" anchor="t">
            <a:spAutoFit/>
          </a:bodyPr>
          <a:lstStyle/>
          <a:p>
            <a:pPr algn="ctr">
              <a:lnSpc>
                <a:spcPts val="10083"/>
              </a:lnSpc>
              <a:spcBef>
                <a:spcPct val="0"/>
              </a:spcBef>
            </a:pPr>
            <a:r>
              <a:rPr lang="en-US" sz="7202" b="1" spc="-554">
                <a:solidFill>
                  <a:srgbClr val="000000"/>
                </a:solidFill>
                <a:latin typeface="DM Sans Bold"/>
                <a:ea typeface="DM Sans Bold"/>
                <a:cs typeface="DM Sans Bold"/>
                <a:sym typeface="DM Sans Bold"/>
              </a:rPr>
              <a:t>References</a:t>
            </a:r>
          </a:p>
        </p:txBody>
      </p:sp>
      <p:grpSp>
        <p:nvGrpSpPr>
          <p:cNvPr id="7" name="Group 7"/>
          <p:cNvGrpSpPr/>
          <p:nvPr/>
        </p:nvGrpSpPr>
        <p:grpSpPr>
          <a:xfrm rot="-2700000">
            <a:off x="17325096" y="464665"/>
            <a:ext cx="317690" cy="317690"/>
            <a:chOff x="0" y="0"/>
            <a:chExt cx="83671" cy="83671"/>
          </a:xfrm>
        </p:grpSpPr>
        <p:sp>
          <p:nvSpPr>
            <p:cNvPr id="8" name="Freeform 8"/>
            <p:cNvSpPr/>
            <p:nvPr/>
          </p:nvSpPr>
          <p:spPr>
            <a:xfrm>
              <a:off x="0" y="0"/>
              <a:ext cx="83671" cy="83671"/>
            </a:xfrm>
            <a:custGeom>
              <a:avLst/>
              <a:gdLst/>
              <a:ahLst/>
              <a:cxnLst/>
              <a:rect l="l" t="t" r="r" b="b"/>
              <a:pathLst>
                <a:path w="83671" h="83671">
                  <a:moveTo>
                    <a:pt x="0" y="0"/>
                  </a:moveTo>
                  <a:lnTo>
                    <a:pt x="83671" y="0"/>
                  </a:lnTo>
                  <a:lnTo>
                    <a:pt x="83671" y="83671"/>
                  </a:lnTo>
                  <a:lnTo>
                    <a:pt x="0" y="83671"/>
                  </a:lnTo>
                  <a:close/>
                </a:path>
              </a:pathLst>
            </a:custGeom>
            <a:solidFill>
              <a:srgbClr val="F8BC00"/>
            </a:solidFill>
          </p:spPr>
        </p:sp>
        <p:sp>
          <p:nvSpPr>
            <p:cNvPr id="9" name="TextBox 9"/>
            <p:cNvSpPr txBox="1"/>
            <p:nvPr/>
          </p:nvSpPr>
          <p:spPr>
            <a:xfrm>
              <a:off x="0" y="-38100"/>
              <a:ext cx="83671" cy="121771"/>
            </a:xfrm>
            <a:prstGeom prst="rect">
              <a:avLst/>
            </a:prstGeom>
          </p:spPr>
          <p:txBody>
            <a:bodyPr lIns="50800" tIns="50800" rIns="50800" bIns="50800" rtlCol="0" anchor="ctr"/>
            <a:lstStyle/>
            <a:p>
              <a:pPr algn="ctr">
                <a:lnSpc>
                  <a:spcPts val="2520"/>
                </a:lnSpc>
              </a:pPr>
              <a:endParaRPr/>
            </a:p>
          </p:txBody>
        </p:sp>
      </p:grpSp>
      <p:sp>
        <p:nvSpPr>
          <p:cNvPr id="10" name="Freeform 10"/>
          <p:cNvSpPr/>
          <p:nvPr/>
        </p:nvSpPr>
        <p:spPr>
          <a:xfrm rot="-9309044">
            <a:off x="-1083593" y="-3012809"/>
            <a:ext cx="6260298" cy="8083019"/>
          </a:xfrm>
          <a:custGeom>
            <a:avLst/>
            <a:gdLst/>
            <a:ahLst/>
            <a:cxnLst/>
            <a:rect l="l" t="t" r="r" b="b"/>
            <a:pathLst>
              <a:path w="6260298" h="8083019">
                <a:moveTo>
                  <a:pt x="0" y="0"/>
                </a:moveTo>
                <a:lnTo>
                  <a:pt x="6260298" y="0"/>
                </a:lnTo>
                <a:lnTo>
                  <a:pt x="6260298" y="8083018"/>
                </a:lnTo>
                <a:lnTo>
                  <a:pt x="0" y="808301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1" name="Freeform 11"/>
          <p:cNvSpPr/>
          <p:nvPr/>
        </p:nvSpPr>
        <p:spPr>
          <a:xfrm rot="-10800000" flipH="1">
            <a:off x="-1145103" y="7897596"/>
            <a:ext cx="4909918" cy="2721409"/>
          </a:xfrm>
          <a:custGeom>
            <a:avLst/>
            <a:gdLst/>
            <a:ahLst/>
            <a:cxnLst/>
            <a:rect l="l" t="t" r="r" b="b"/>
            <a:pathLst>
              <a:path w="4909918" h="2721409">
                <a:moveTo>
                  <a:pt x="4909918" y="0"/>
                </a:moveTo>
                <a:lnTo>
                  <a:pt x="0" y="0"/>
                </a:lnTo>
                <a:lnTo>
                  <a:pt x="0" y="2721408"/>
                </a:lnTo>
                <a:lnTo>
                  <a:pt x="4909918" y="2721408"/>
                </a:lnTo>
                <a:lnTo>
                  <a:pt x="4909918"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2" name="TextBox 12"/>
          <p:cNvSpPr txBox="1"/>
          <p:nvPr/>
        </p:nvSpPr>
        <p:spPr>
          <a:xfrm>
            <a:off x="571511" y="2124458"/>
            <a:ext cx="17144977" cy="7133842"/>
          </a:xfrm>
          <a:prstGeom prst="rect">
            <a:avLst/>
          </a:prstGeom>
        </p:spPr>
        <p:txBody>
          <a:bodyPr lIns="0" tIns="0" rIns="0" bIns="0" rtlCol="0" anchor="t">
            <a:spAutoFit/>
          </a:bodyPr>
          <a:lstStyle/>
          <a:p>
            <a:pPr marL="481750" lvl="1" indent="-240875" algn="just">
              <a:lnSpc>
                <a:spcPts val="4083"/>
              </a:lnSpc>
              <a:buFont typeface="Arial"/>
              <a:buChar char="•"/>
            </a:pPr>
            <a:r>
              <a:rPr lang="en-US" sz="2231">
                <a:solidFill>
                  <a:srgbClr val="000000"/>
                </a:solidFill>
                <a:latin typeface="DM Sans"/>
                <a:ea typeface="DM Sans"/>
                <a:cs typeface="DM Sans"/>
                <a:sym typeface="DM Sans"/>
              </a:rPr>
              <a:t>T. Brown et al., “Language Models are Few-Shot Learners,” Advances in Neural Information Processing Systems (NeurIPS), vol. 33, pp. 1877–1901, 2020. https://arxiv.org/abs/2005.14165</a:t>
            </a:r>
          </a:p>
          <a:p>
            <a:pPr marL="481750" lvl="1" indent="-240875" algn="just">
              <a:lnSpc>
                <a:spcPts val="4083"/>
              </a:lnSpc>
              <a:buFont typeface="Arial"/>
              <a:buChar char="•"/>
            </a:pPr>
            <a:r>
              <a:rPr lang="en-US" sz="2231">
                <a:solidFill>
                  <a:srgbClr val="000000"/>
                </a:solidFill>
                <a:latin typeface="DM Sans"/>
                <a:ea typeface="DM Sans"/>
                <a:cs typeface="DM Sans"/>
                <a:sym typeface="DM Sans"/>
              </a:rPr>
              <a:t>OpenAI, “GPT-4 Technical Report,” arXiv preprint arXiv:2303.08774, 2023.https://arxiv.org/abs/2303.08774</a:t>
            </a:r>
          </a:p>
          <a:p>
            <a:pPr marL="481750" lvl="1" indent="-240875" algn="just">
              <a:lnSpc>
                <a:spcPts val="4083"/>
              </a:lnSpc>
              <a:buFont typeface="Arial"/>
              <a:buChar char="•"/>
            </a:pPr>
            <a:r>
              <a:rPr lang="en-US" sz="2231">
                <a:solidFill>
                  <a:srgbClr val="000000"/>
                </a:solidFill>
                <a:latin typeface="DM Sans"/>
                <a:ea typeface="DM Sans"/>
                <a:cs typeface="DM Sans"/>
                <a:sym typeface="DM Sans"/>
              </a:rPr>
              <a:t>A. Ly, B. Uthayasooriyar, and T. Wang, “A Survey on Natural Language Processing Applications in the Insurance Industry,” arXiv preprint arXiv:2010.00462, 2020. </a:t>
            </a:r>
            <a:r>
              <a:rPr lang="en-US" sz="2231" u="sng">
                <a:solidFill>
                  <a:srgbClr val="000000"/>
                </a:solidFill>
                <a:latin typeface="DM Sans"/>
                <a:ea typeface="DM Sans"/>
                <a:cs typeface="DM Sans"/>
                <a:sym typeface="DM Sans"/>
                <a:hlinkClick r:id="rId6" tooltip="https://arxiv.org/abs/2010.00462?utm_source=chatgpt.com"/>
              </a:rPr>
              <a:t>https://arxiv.org/abs/2010.00462</a:t>
            </a:r>
          </a:p>
          <a:p>
            <a:pPr marL="481750" lvl="1" indent="-240875" algn="just">
              <a:lnSpc>
                <a:spcPts val="4083"/>
              </a:lnSpc>
              <a:buFont typeface="Arial"/>
              <a:buChar char="•"/>
            </a:pPr>
            <a:r>
              <a:rPr lang="en-US" sz="2231">
                <a:solidFill>
                  <a:srgbClr val="000000"/>
                </a:solidFill>
                <a:latin typeface="DM Sans"/>
                <a:ea typeface="DM Sans"/>
                <a:cs typeface="DM Sans"/>
                <a:sym typeface="DM Sans"/>
              </a:rPr>
              <a:t>S. Mahadevkar, “Exploring AI-Driven Approaches for Unstructured Document Processing,” Journal of Big Data, vol. 11, no. 1, pp. 1–18, 2024. </a:t>
            </a:r>
            <a:r>
              <a:rPr lang="en-US" sz="2231" u="sng">
                <a:solidFill>
                  <a:srgbClr val="000000"/>
                </a:solidFill>
                <a:latin typeface="DM Sans"/>
                <a:ea typeface="DM Sans"/>
                <a:cs typeface="DM Sans"/>
                <a:sym typeface="DM Sans"/>
                <a:hlinkClick r:id="rId7" tooltip="https://link.springer.com/article/10.1186/s40537-024-00948-z?utm_source=chatgpt.com"/>
              </a:rPr>
              <a:t>https://link.springer.com/article/10.1186/s40537-024-00948-z</a:t>
            </a:r>
          </a:p>
          <a:p>
            <a:pPr marL="481750" lvl="1" indent="-240875" algn="just">
              <a:lnSpc>
                <a:spcPts val="4083"/>
              </a:lnSpc>
              <a:buFont typeface="Arial"/>
              <a:buChar char="•"/>
            </a:pPr>
            <a:r>
              <a:rPr lang="en-US" sz="2231">
                <a:solidFill>
                  <a:srgbClr val="000000"/>
                </a:solidFill>
                <a:latin typeface="DM Sans"/>
                <a:ea typeface="DM Sans"/>
                <a:cs typeface="DM Sans"/>
                <a:sym typeface="DM Sans"/>
              </a:rPr>
              <a:t>R. Smith, “An Overview of the Tesseract OCR Engine,” Proc. Int. Conf. on Document Analysis and Recognition (ICDAR), pp. 629–633, 2007. https://ieeexplore.ieee.org/document/4376991</a:t>
            </a:r>
          </a:p>
          <a:p>
            <a:pPr marL="481750" lvl="1" indent="-240875" algn="just">
              <a:lnSpc>
                <a:spcPts val="4083"/>
              </a:lnSpc>
              <a:buFont typeface="Arial"/>
              <a:buChar char="•"/>
            </a:pPr>
            <a:r>
              <a:rPr lang="en-US" sz="2231">
                <a:solidFill>
                  <a:srgbClr val="000000"/>
                </a:solidFill>
                <a:latin typeface="DM Sans"/>
                <a:ea typeface="DM Sans"/>
                <a:cs typeface="DM Sans"/>
                <a:sym typeface="DM Sans"/>
              </a:rPr>
              <a:t>Y. Xu et al., “LayoutLM: Pre-training of Text and Layout for Document Image Understanding,” Proc. ACM SIGKDD, pp. 1192–1200, 2020. https://arxiv.org/abs/1912.13318</a:t>
            </a:r>
          </a:p>
          <a:p>
            <a:pPr marL="481750" lvl="1" indent="-240875" algn="just">
              <a:lnSpc>
                <a:spcPts val="4083"/>
              </a:lnSpc>
              <a:buFont typeface="Arial"/>
              <a:buChar char="•"/>
            </a:pPr>
            <a:r>
              <a:rPr lang="en-US" sz="2231">
                <a:solidFill>
                  <a:srgbClr val="000000"/>
                </a:solidFill>
                <a:latin typeface="DM Sans"/>
                <a:ea typeface="DM Sans"/>
                <a:cs typeface="DM Sans"/>
                <a:sym typeface="DM Sans"/>
              </a:rPr>
              <a:t>J. Hedberg, “Automated Extraction of Insurance Policy Information Using NLP Techniques,” Master’s Thesis, Uppsala University, Sweden, 2023. https://www.diva-portal.org/smash/get/diva2:1774296/FULLTEXT01.pdf</a:t>
            </a:r>
          </a:p>
          <a:p>
            <a:pPr algn="just">
              <a:lnSpc>
                <a:spcPts val="4083"/>
              </a:lnSpc>
            </a:pPr>
            <a:endParaRPr lang="en-US" sz="2231">
              <a:solidFill>
                <a:srgbClr val="000000"/>
              </a:solidFill>
              <a:latin typeface="DM Sans"/>
              <a:ea typeface="DM Sans"/>
              <a:cs typeface="DM Sans"/>
              <a:sym typeface="DM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0800000">
            <a:off x="13378082" y="7565591"/>
            <a:ext cx="4909918" cy="2721409"/>
          </a:xfrm>
          <a:custGeom>
            <a:avLst/>
            <a:gdLst/>
            <a:ahLst/>
            <a:cxnLst/>
            <a:rect l="l" t="t" r="r" b="b"/>
            <a:pathLst>
              <a:path w="4909918" h="2721409">
                <a:moveTo>
                  <a:pt x="0" y="0"/>
                </a:moveTo>
                <a:lnTo>
                  <a:pt x="4909918" y="0"/>
                </a:lnTo>
                <a:lnTo>
                  <a:pt x="4909918" y="2721409"/>
                </a:lnTo>
                <a:lnTo>
                  <a:pt x="0" y="27214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10800000" flipH="1">
            <a:off x="0" y="7565591"/>
            <a:ext cx="4909918" cy="2721409"/>
          </a:xfrm>
          <a:custGeom>
            <a:avLst/>
            <a:gdLst/>
            <a:ahLst/>
            <a:cxnLst/>
            <a:rect l="l" t="t" r="r" b="b"/>
            <a:pathLst>
              <a:path w="4909918" h="2721409">
                <a:moveTo>
                  <a:pt x="4909918" y="0"/>
                </a:moveTo>
                <a:lnTo>
                  <a:pt x="0" y="0"/>
                </a:lnTo>
                <a:lnTo>
                  <a:pt x="0" y="2721409"/>
                </a:lnTo>
                <a:lnTo>
                  <a:pt x="4909918" y="2721409"/>
                </a:lnTo>
                <a:lnTo>
                  <a:pt x="4909918"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7022688" y="6810541"/>
            <a:ext cx="4885390" cy="47625"/>
            <a:chOff x="0" y="0"/>
            <a:chExt cx="1286687" cy="12543"/>
          </a:xfrm>
        </p:grpSpPr>
        <p:sp>
          <p:nvSpPr>
            <p:cNvPr id="5" name="Freeform 5"/>
            <p:cNvSpPr/>
            <p:nvPr/>
          </p:nvSpPr>
          <p:spPr>
            <a:xfrm>
              <a:off x="0" y="0"/>
              <a:ext cx="1286687" cy="12543"/>
            </a:xfrm>
            <a:custGeom>
              <a:avLst/>
              <a:gdLst/>
              <a:ahLst/>
              <a:cxnLst/>
              <a:rect l="l" t="t" r="r" b="b"/>
              <a:pathLst>
                <a:path w="1286687" h="12543">
                  <a:moveTo>
                    <a:pt x="0" y="0"/>
                  </a:moveTo>
                  <a:lnTo>
                    <a:pt x="1286687" y="0"/>
                  </a:lnTo>
                  <a:lnTo>
                    <a:pt x="1286687" y="12543"/>
                  </a:lnTo>
                  <a:lnTo>
                    <a:pt x="0" y="12543"/>
                  </a:lnTo>
                  <a:close/>
                </a:path>
              </a:pathLst>
            </a:custGeom>
            <a:solidFill>
              <a:srgbClr val="F8BC00"/>
            </a:solidFill>
          </p:spPr>
        </p:sp>
        <p:sp>
          <p:nvSpPr>
            <p:cNvPr id="6" name="TextBox 6"/>
            <p:cNvSpPr txBox="1"/>
            <p:nvPr/>
          </p:nvSpPr>
          <p:spPr>
            <a:xfrm>
              <a:off x="0" y="-47625"/>
              <a:ext cx="1286687" cy="60168"/>
            </a:xfrm>
            <a:prstGeom prst="rect">
              <a:avLst/>
            </a:prstGeom>
          </p:spPr>
          <p:txBody>
            <a:bodyPr lIns="50800" tIns="50800" rIns="50800" bIns="50800" rtlCol="0" anchor="ctr"/>
            <a:lstStyle/>
            <a:p>
              <a:pPr algn="ctr">
                <a:lnSpc>
                  <a:spcPts val="3359"/>
                </a:lnSpc>
              </a:pPr>
              <a:endParaRPr/>
            </a:p>
          </p:txBody>
        </p:sp>
      </p:grpSp>
      <p:grpSp>
        <p:nvGrpSpPr>
          <p:cNvPr id="7" name="Group 7"/>
          <p:cNvGrpSpPr/>
          <p:nvPr/>
        </p:nvGrpSpPr>
        <p:grpSpPr>
          <a:xfrm rot="-2700000">
            <a:off x="2485974" y="4852383"/>
            <a:ext cx="317690" cy="317690"/>
            <a:chOff x="0" y="0"/>
            <a:chExt cx="83671" cy="83671"/>
          </a:xfrm>
        </p:grpSpPr>
        <p:sp>
          <p:nvSpPr>
            <p:cNvPr id="8" name="Freeform 8"/>
            <p:cNvSpPr/>
            <p:nvPr/>
          </p:nvSpPr>
          <p:spPr>
            <a:xfrm>
              <a:off x="0" y="0"/>
              <a:ext cx="83671" cy="83671"/>
            </a:xfrm>
            <a:custGeom>
              <a:avLst/>
              <a:gdLst/>
              <a:ahLst/>
              <a:cxnLst/>
              <a:rect l="l" t="t" r="r" b="b"/>
              <a:pathLst>
                <a:path w="83671" h="83671">
                  <a:moveTo>
                    <a:pt x="0" y="0"/>
                  </a:moveTo>
                  <a:lnTo>
                    <a:pt x="83671" y="0"/>
                  </a:lnTo>
                  <a:lnTo>
                    <a:pt x="83671" y="83671"/>
                  </a:lnTo>
                  <a:lnTo>
                    <a:pt x="0" y="83671"/>
                  </a:lnTo>
                  <a:close/>
                </a:path>
              </a:pathLst>
            </a:custGeom>
            <a:solidFill>
              <a:srgbClr val="F8BC00"/>
            </a:solidFill>
          </p:spPr>
        </p:sp>
        <p:sp>
          <p:nvSpPr>
            <p:cNvPr id="9" name="TextBox 9"/>
            <p:cNvSpPr txBox="1"/>
            <p:nvPr/>
          </p:nvSpPr>
          <p:spPr>
            <a:xfrm>
              <a:off x="0" y="-38100"/>
              <a:ext cx="83671" cy="121771"/>
            </a:xfrm>
            <a:prstGeom prst="rect">
              <a:avLst/>
            </a:prstGeom>
          </p:spPr>
          <p:txBody>
            <a:bodyPr lIns="50800" tIns="50800" rIns="50800" bIns="50800" rtlCol="0" anchor="ctr"/>
            <a:lstStyle/>
            <a:p>
              <a:pPr algn="ctr">
                <a:lnSpc>
                  <a:spcPts val="2520"/>
                </a:lnSpc>
              </a:pPr>
              <a:endParaRPr/>
            </a:p>
          </p:txBody>
        </p:sp>
      </p:grpSp>
      <p:sp>
        <p:nvSpPr>
          <p:cNvPr id="10" name="TextBox 10"/>
          <p:cNvSpPr txBox="1"/>
          <p:nvPr/>
        </p:nvSpPr>
        <p:spPr>
          <a:xfrm>
            <a:off x="3519540" y="3649788"/>
            <a:ext cx="11248919" cy="2446654"/>
          </a:xfrm>
          <a:prstGeom prst="rect">
            <a:avLst/>
          </a:prstGeom>
        </p:spPr>
        <p:txBody>
          <a:bodyPr lIns="0" tIns="0" rIns="0" bIns="0" rtlCol="0" anchor="t">
            <a:spAutoFit/>
          </a:bodyPr>
          <a:lstStyle/>
          <a:p>
            <a:pPr algn="ctr">
              <a:lnSpc>
                <a:spcPts val="20020"/>
              </a:lnSpc>
              <a:spcBef>
                <a:spcPct val="0"/>
              </a:spcBef>
            </a:pPr>
            <a:r>
              <a:rPr lang="en-US" sz="14300" spc="-1101">
                <a:solidFill>
                  <a:srgbClr val="000000"/>
                </a:solidFill>
                <a:latin typeface="DM Sans"/>
                <a:ea typeface="DM Sans"/>
                <a:cs typeface="DM Sans"/>
                <a:sym typeface="DM Sans"/>
              </a:rPr>
              <a:t>Thank You</a:t>
            </a:r>
          </a:p>
        </p:txBody>
      </p:sp>
      <p:grpSp>
        <p:nvGrpSpPr>
          <p:cNvPr id="11" name="Group 11"/>
          <p:cNvGrpSpPr/>
          <p:nvPr/>
        </p:nvGrpSpPr>
        <p:grpSpPr>
          <a:xfrm rot="-2700000">
            <a:off x="15484336" y="4852383"/>
            <a:ext cx="317690" cy="317690"/>
            <a:chOff x="0" y="0"/>
            <a:chExt cx="83671" cy="83671"/>
          </a:xfrm>
        </p:grpSpPr>
        <p:sp>
          <p:nvSpPr>
            <p:cNvPr id="12" name="Freeform 12"/>
            <p:cNvSpPr/>
            <p:nvPr/>
          </p:nvSpPr>
          <p:spPr>
            <a:xfrm>
              <a:off x="0" y="0"/>
              <a:ext cx="83671" cy="83671"/>
            </a:xfrm>
            <a:custGeom>
              <a:avLst/>
              <a:gdLst/>
              <a:ahLst/>
              <a:cxnLst/>
              <a:rect l="l" t="t" r="r" b="b"/>
              <a:pathLst>
                <a:path w="83671" h="83671">
                  <a:moveTo>
                    <a:pt x="0" y="0"/>
                  </a:moveTo>
                  <a:lnTo>
                    <a:pt x="83671" y="0"/>
                  </a:lnTo>
                  <a:lnTo>
                    <a:pt x="83671" y="83671"/>
                  </a:lnTo>
                  <a:lnTo>
                    <a:pt x="0" y="83671"/>
                  </a:lnTo>
                  <a:close/>
                </a:path>
              </a:pathLst>
            </a:custGeom>
            <a:solidFill>
              <a:srgbClr val="F8BC00"/>
            </a:solidFill>
          </p:spPr>
        </p:sp>
        <p:sp>
          <p:nvSpPr>
            <p:cNvPr id="13" name="TextBox 13"/>
            <p:cNvSpPr txBox="1"/>
            <p:nvPr/>
          </p:nvSpPr>
          <p:spPr>
            <a:xfrm>
              <a:off x="0" y="-38100"/>
              <a:ext cx="83671" cy="121771"/>
            </a:xfrm>
            <a:prstGeom prst="rect">
              <a:avLst/>
            </a:prstGeom>
          </p:spPr>
          <p:txBody>
            <a:bodyPr lIns="50800" tIns="50800" rIns="50800" bIns="50800" rtlCol="0" anchor="ctr"/>
            <a:lstStyle/>
            <a:p>
              <a:pPr algn="ctr">
                <a:lnSpc>
                  <a:spcPts val="2520"/>
                </a:lnSpc>
              </a:pPr>
              <a:endParaRPr/>
            </a:p>
          </p:txBody>
        </p:sp>
      </p:grpSp>
      <p:sp>
        <p:nvSpPr>
          <p:cNvPr id="14" name="Freeform 14"/>
          <p:cNvSpPr/>
          <p:nvPr/>
        </p:nvSpPr>
        <p:spPr>
          <a:xfrm flipH="1">
            <a:off x="13378082" y="-262246"/>
            <a:ext cx="4909918" cy="2721409"/>
          </a:xfrm>
          <a:custGeom>
            <a:avLst/>
            <a:gdLst/>
            <a:ahLst/>
            <a:cxnLst/>
            <a:rect l="l" t="t" r="r" b="b"/>
            <a:pathLst>
              <a:path w="4909918" h="2721409">
                <a:moveTo>
                  <a:pt x="4909918" y="0"/>
                </a:moveTo>
                <a:lnTo>
                  <a:pt x="0" y="0"/>
                </a:lnTo>
                <a:lnTo>
                  <a:pt x="0" y="2721409"/>
                </a:lnTo>
                <a:lnTo>
                  <a:pt x="4909918" y="2721409"/>
                </a:lnTo>
                <a:lnTo>
                  <a:pt x="4909918"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5" name="Freeform 15"/>
          <p:cNvSpPr/>
          <p:nvPr/>
        </p:nvSpPr>
        <p:spPr>
          <a:xfrm>
            <a:off x="-34781" y="0"/>
            <a:ext cx="4909918" cy="2721409"/>
          </a:xfrm>
          <a:custGeom>
            <a:avLst/>
            <a:gdLst/>
            <a:ahLst/>
            <a:cxnLst/>
            <a:rect l="l" t="t" r="r" b="b"/>
            <a:pathLst>
              <a:path w="4909918" h="2721409">
                <a:moveTo>
                  <a:pt x="0" y="0"/>
                </a:moveTo>
                <a:lnTo>
                  <a:pt x="4909919" y="0"/>
                </a:lnTo>
                <a:lnTo>
                  <a:pt x="4909919" y="2721409"/>
                </a:lnTo>
                <a:lnTo>
                  <a:pt x="0" y="27214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8f0f2157-fd41-49cd-80f4-60e240d3f020}" enabled="1" method="Standard" siteId="{35e2312c-6869-4dba-ae25-76b1cb0bcbeb}" contentBits="5" removed="0"/>
</clbl:labelList>
</file>

<file path=docProps/app.xml><?xml version="1.0" encoding="utf-8"?>
<Properties xmlns="http://schemas.openxmlformats.org/officeDocument/2006/extended-properties" xmlns:vt="http://schemas.openxmlformats.org/officeDocument/2006/docPropsVTypes">
  <TotalTime>1</TotalTime>
  <Words>1243</Words>
  <Application>Microsoft Office PowerPoint</Application>
  <PresentationFormat>Custom</PresentationFormat>
  <Paragraphs>58</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review 1</dc:title>
  <cp:lastModifiedBy>Hirthick sivashanmugam</cp:lastModifiedBy>
  <cp:revision>4</cp:revision>
  <dcterms:created xsi:type="dcterms:W3CDTF">2006-08-16T00:00:00Z</dcterms:created>
  <dcterms:modified xsi:type="dcterms:W3CDTF">2026-01-13T04:17:44Z</dcterms:modified>
  <dc:identifier>DAG9_O_Mm3c</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HeaderLocations">
    <vt:lpwstr>Office Theme:9</vt:lpwstr>
  </property>
  <property fmtid="{D5CDD505-2E9C-101B-9397-08002B2CF9AE}" pid="3" name="ClassificationContentMarkingHeaderText">
    <vt:lpwstr>PUBLIC</vt:lpwstr>
  </property>
  <property fmtid="{D5CDD505-2E9C-101B-9397-08002B2CF9AE}" pid="4" name="ClassificationWatermarkLocations">
    <vt:lpwstr>Office Theme:10</vt:lpwstr>
  </property>
  <property fmtid="{D5CDD505-2E9C-101B-9397-08002B2CF9AE}" pid="5" name="ClassificationWatermarkText">
    <vt:lpwstr>PUBLIC</vt:lpwstr>
  </property>
</Properties>
</file>